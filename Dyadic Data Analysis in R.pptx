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7559675" cy="10691813"/>
  <p:embeddedFontLst>
    <p:embeddedFont>
      <p:font typeface="Inter SemiBold"/>
      <p:regular r:id="rId35"/>
      <p:bold r:id="rId36"/>
      <p:italic r:id="rId37"/>
      <p:boldItalic r:id="rId35"/>
    </p:embeddedFont>
    <p:embeddedFont>
      <p:font typeface="Fira Code"/>
      <p:regular r:id="rId38"/>
      <p:bold r:id="rId38"/>
    </p:embeddedFont>
    <p:embeddedFont>
      <p:font typeface="Poppins"/>
      <p:regular r:id="rId39"/>
      <p:bold r:id="rId40"/>
      <p:italic r:id="rId41"/>
      <p:boldItalic r:id="rId41"/>
    </p:embeddedFont>
    <p:embeddedFont>
      <p:font typeface="Poppins SemiBold"/>
      <p:regular r:id="rId42"/>
      <p:bold r:id="rId43"/>
      <p:italic r:id="rId44"/>
      <p:boldItalic r:id="rId44"/>
    </p:embeddedFont>
    <p:embeddedFont>
      <p:font typeface="Inter"/>
      <p:regular r:id="rId35"/>
      <p:bold r:id="rId36"/>
      <p:italic r:id="rId37"/>
      <p:boldItalic r:id="rId3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 /><Relationship Id="rId2" Type="http://schemas.openxmlformats.org/officeDocument/2006/relationships/slideMaster" Target="slideMasters/slide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font" Target="fonts/Font_1_Inter_SemiBold_Regular.fntdata" /><Relationship Id="rId36" Type="http://schemas.openxmlformats.org/officeDocument/2006/relationships/font" Target="fonts/Font_2_Inter_SemiBold_Bold.fntdata" /><Relationship Id="rId37" Type="http://schemas.openxmlformats.org/officeDocument/2006/relationships/font" Target="fonts/Font_3_Inter_SemiBold_Italic.fntdata" /><Relationship Id="rId38" Type="http://schemas.openxmlformats.org/officeDocument/2006/relationships/font" Target="fonts/Font_4_Fira_Code_Regular.fntdata" /><Relationship Id="rId39" Type="http://schemas.openxmlformats.org/officeDocument/2006/relationships/font" Target="fonts/Font_5_Poppins_Regular.fntdata" /><Relationship Id="rId40" Type="http://schemas.openxmlformats.org/officeDocument/2006/relationships/font" Target="fonts/Font_6_Poppins_Bold.fntdata" /><Relationship Id="rId41" Type="http://schemas.openxmlformats.org/officeDocument/2006/relationships/font" Target="fonts/Font_7_Poppins_Italic.fntdata" /><Relationship Id="rId42" Type="http://schemas.openxmlformats.org/officeDocument/2006/relationships/font" Target="fonts/Font_8_Poppins_SemiBold_Regular.fntdata" /><Relationship Id="rId43" Type="http://schemas.openxmlformats.org/officeDocument/2006/relationships/font" Target="fonts/Font_9_Poppins_SemiBold_Bold.fntdata" /><Relationship Id="rId44" Type="http://schemas.openxmlformats.org/officeDocument/2006/relationships/font" Target="fonts/Font_10_Poppins_SemiBold_Italic.fntdata" /><Relationship Id="rId49" Type="http://schemas.openxmlformats.org/officeDocument/2006/relationships/presProps" Target="presProps.xml" 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328E36-6035-4841-9B79-FF030DD4773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44A46F-8F55-4512-8B94-090D51ECAA3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1CBFEE-E933-4089-B104-8B892CFCD8C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D602CD-81AF-473F-8172-8D2DEA8B7CD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E08FB7-7AE4-49C9-8DA6-8E6A7551C14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3A2932-C5F6-4E8A-A120-9515EB8F006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 rot="5400000">
            <a:off x="2310120" y="-251640"/>
            <a:ext cx="4524840" cy="822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22B8E6-13BA-42BB-AC71-7E8EBBA2CDE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 rot="5400000">
            <a:off x="4733280" y="2171520"/>
            <a:ext cx="5850360" cy="205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 rot="5400000">
            <a:off x="542520" y="189360"/>
            <a:ext cx="5850360" cy="601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64B841-4FB8-407F-8577-7077C7433AC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6E9F96-DEEC-4AEA-B0F0-192240F06F1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DA8EFB-AC93-4879-B336-F4F64B06975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62500" lnSpcReduction="19999"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4E37CB-735B-4BBC-9383-42D4AD5DEAE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9.png"/><Relationship Id="rId9" Type="http://schemas.openxmlformats.org/officeDocument/2006/relationships/image" Target="../media/image19.png"/><Relationship Id="rId10" Type="http://schemas.openxmlformats.org/officeDocument/2006/relationships/image" Target="../media/image19.png"/><Relationship Id="rId11" Type="http://schemas.openxmlformats.org/officeDocument/2006/relationships/image" Target="../media/image19.png"/><Relationship Id="rId12" Type="http://schemas.openxmlformats.org/officeDocument/2006/relationships/image" Target="../media/image19.png"/><Relationship Id="rId13" Type="http://schemas.openxmlformats.org/officeDocument/2006/relationships/image" Target="../media/image19.png"/><Relationship Id="rId14" Type="http://schemas.openxmlformats.org/officeDocument/2006/relationships/image" Target="../media/image19.png"/><Relationship Id="rId15" Type="http://schemas.openxmlformats.org/officeDocument/2006/relationships/image" Target="../media/image19.png"/><Relationship Id="rId16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5.png"/><Relationship Id="rId10" Type="http://schemas.openxmlformats.org/officeDocument/2006/relationships/image" Target="../media/image25.png"/><Relationship Id="rId1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5.png"/><Relationship Id="rId10" Type="http://schemas.openxmlformats.org/officeDocument/2006/relationships/image" Target="../media/image25.png"/><Relationship Id="rId1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9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5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4.png"/><Relationship Id="rId13" Type="http://schemas.openxmlformats.org/officeDocument/2006/relationships/image" Target="../media/image34.png"/><Relationship Id="rId14" Type="http://schemas.openxmlformats.org/officeDocument/2006/relationships/image" Target="../media/image34.png"/><Relationship Id="rId15" Type="http://schemas.openxmlformats.org/officeDocument/2006/relationships/image" Target="../media/image34.png"/><Relationship Id="rId16" Type="http://schemas.openxmlformats.org/officeDocument/2006/relationships/image" Target="../media/image34.png"/><Relationship Id="rId17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34.png"/><Relationship Id="rId9" Type="http://schemas.openxmlformats.org/officeDocument/2006/relationships/image" Target="../media/image34.png"/><Relationship Id="rId10" Type="http://schemas.openxmlformats.org/officeDocument/2006/relationships/image" Target="../media/image34.png"/><Relationship Id="rId1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54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image" Target="../media/image34.png"/><Relationship Id="rId8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55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56.png"/><Relationship Id="rId6" Type="http://schemas.openxmlformats.org/officeDocument/2006/relationships/image" Target="../media/image34.png"/><Relationship Id="rId7" Type="http://schemas.openxmlformats.org/officeDocument/2006/relationships/image" Target="../media/image34.png"/><Relationship Id="rId8" Type="http://schemas.openxmlformats.org/officeDocument/2006/relationships/image" Target="../media/image34.png"/><Relationship Id="rId9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5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34.png"/><Relationship Id="rId10" Type="http://schemas.openxmlformats.org/officeDocument/2006/relationships/image" Target="../media/image34.png"/><Relationship Id="rId11" Type="http://schemas.openxmlformats.org/officeDocument/2006/relationships/image" Target="../media/image34.png"/><Relationship Id="rId12" Type="http://schemas.openxmlformats.org/officeDocument/2006/relationships/image" Target="../media/image34.png"/><Relationship Id="rId13" Type="http://schemas.openxmlformats.org/officeDocument/2006/relationships/image" Target="../media/image34.png"/><Relationship Id="rId14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34.png"/><Relationship Id="rId11" Type="http://schemas.openxmlformats.org/officeDocument/2006/relationships/image" Target="../media/image34.png"/><Relationship Id="rId12" Type="http://schemas.openxmlformats.org/officeDocument/2006/relationships/image" Target="../media/image34.png"/><Relationship Id="rId1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74.png"/><Relationship Id="rId10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75.png"/><Relationship Id="rId9" Type="http://schemas.openxmlformats.org/officeDocument/2006/relationships/image" Target="../media/image25.png"/><Relationship Id="rId10" Type="http://schemas.openxmlformats.org/officeDocument/2006/relationships/image" Target="../media/image25.png"/><Relationship Id="rId11" Type="http://schemas.openxmlformats.org/officeDocument/2006/relationships/image" Target="../media/image25.png"/><Relationship Id="rId1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75.png"/><Relationship Id="rId9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7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7.png"/><Relationship Id="rId6" Type="http://schemas.openxmlformats.org/officeDocument/2006/relationships/image" Target="../media/image25.png"/><Relationship Id="rId7" Type="http://schemas.openxmlformats.org/officeDocument/2006/relationships/image" Target="../media/image25.png"/><Relationship Id="rId8" Type="http://schemas.openxmlformats.org/officeDocument/2006/relationships/image" Target="../media/image25.png"/><Relationship Id="rId9" Type="http://schemas.openxmlformats.org/officeDocument/2006/relationships/image" Target="../media/image25.png"/><Relationship Id="rId10" Type="http://schemas.openxmlformats.org/officeDocument/2006/relationships/image" Target="../media/image25.png"/><Relationship Id="rId1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62.png"/><Relationship Id="rId9" Type="http://schemas.openxmlformats.org/officeDocument/2006/relationships/image" Target="../media/image25.png"/><Relationship Id="rId10" Type="http://schemas.openxmlformats.org/officeDocument/2006/relationships/image" Target="../media/image25.png"/><Relationship Id="rId11" Type="http://schemas.openxmlformats.org/officeDocument/2006/relationships/image" Target="../media/image25.png"/><Relationship Id="rId1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8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6.png"/><Relationship Id="rId8" Type="http://schemas.openxmlformats.org/officeDocument/2006/relationships/image" Target="../media/image86.png"/><Relationship Id="rId9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7.png"/><Relationship Id="rId2" Type="http://schemas.openxmlformats.org/officeDocument/2006/relationships/image" Target="../media/image8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9.png"/><Relationship Id="rId6" Type="http://schemas.openxmlformats.org/officeDocument/2006/relationships/image" Target="../media/image86.png"/><Relationship Id="rId7" Type="http://schemas.openxmlformats.org/officeDocument/2006/relationships/image" Target="../media/image86.png"/><Relationship Id="rId8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9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1.png"/><Relationship Id="rId6" Type="http://schemas.openxmlformats.org/officeDocument/2006/relationships/image" Target="../media/image86.png"/><Relationship Id="rId7" Type="http://schemas.openxmlformats.org/officeDocument/2006/relationships/image" Target="../media/image86.png"/><Relationship Id="rId8" Type="http://schemas.openxmlformats.org/officeDocument/2006/relationships/image" Target="../media/image86.png"/><Relationship Id="rId9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image" Target="../media/image9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3.png"/><Relationship Id="rId6" Type="http://schemas.openxmlformats.org/officeDocument/2006/relationships/image" Target="../media/image86.png"/><Relationship Id="rId7" Type="http://schemas.openxmlformats.org/officeDocument/2006/relationships/image" Target="../media/image86.png"/><Relationship Id="rId8" Type="http://schemas.openxmlformats.org/officeDocument/2006/relationships/image" Target="../media/image86.png"/><Relationship Id="rId9" Type="http://schemas.openxmlformats.org/officeDocument/2006/relationships/image" Target="../media/image86.png"/><Relationship Id="rId10" Type="http://schemas.openxmlformats.org/officeDocument/2006/relationships/image" Target="../media/image86.png"/><Relationship Id="rId11" Type="http://schemas.openxmlformats.org/officeDocument/2006/relationships/image" Target="../media/image86.png"/><Relationship Id="rId1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94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6.png"/><Relationship Id="rId7" Type="http://schemas.openxmlformats.org/officeDocument/2006/relationships/image" Target="../media/image96.png"/><Relationship Id="rId8" Type="http://schemas.openxmlformats.org/officeDocument/2006/relationships/image" Target="../media/image96.png"/><Relationship Id="rId9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97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98.png"/><Relationship Id="rId5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85;p13" descr="image.png"/>
          <p:cNvPicPr/>
          <p:nvPr/>
        </p:nvPicPr>
        <p:blipFill>
          <a:blip r:embed="rId2"/>
          <a:stretch/>
        </p:blipFill>
        <p:spPr>
          <a:xfrm>
            <a:off x="3951000" y="802440"/>
            <a:ext cx="4289040" cy="36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86;p13" descr="image.png"/>
          <p:cNvPicPr/>
          <p:nvPr/>
        </p:nvPicPr>
        <p:blipFill>
          <a:blip r:embed="rId3"/>
          <a:stretch/>
        </p:blipFill>
        <p:spPr>
          <a:xfrm>
            <a:off x="1809720" y="4689360"/>
            <a:ext cx="857160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Google Shape;87;p13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9;p13"/>
          <p:cNvSpPr/>
          <p:nvPr/>
        </p:nvSpPr>
        <p:spPr>
          <a:xfrm>
            <a:off x="1809720" y="3295080"/>
            <a:ext cx="8571600" cy="10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Using Actor-Partner Interdependence Models (APIM) to explore indistinguishable and distinguishable dyads with Multilevel (MLM) &amp; Structural Equation Modeling (SEM) approaches.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90;p13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91;p13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Google Shape;92;p13"/>
          <p:cNvSpPr/>
          <p:nvPr/>
        </p:nvSpPr>
        <p:spPr>
          <a:xfrm>
            <a:off x="1809720" y="4937040"/>
            <a:ext cx="367560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Facilitators: </a:t>
            </a: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Prof. C. Binnewies</a:t>
            </a:r>
            <a:r>
              <a:rPr lang="en-US" sz="113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 &amp; </a:t>
            </a: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Prof. G. Michaelides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3;p13"/>
          <p:cNvSpPr/>
          <p:nvPr/>
        </p:nvSpPr>
        <p:spPr>
          <a:xfrm>
            <a:off x="7772400" y="4937040"/>
            <a:ext cx="260892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June 18, 2026 — University of Helsinki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lideIndicator94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99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101;p14" descr="image.png"/>
          <p:cNvPicPr/>
          <p:nvPr/>
        </p:nvPicPr>
        <p:blipFill>
          <a:blip r:embed="rId2"/>
          <a:stretch/>
        </p:blipFill>
        <p:spPr>
          <a:xfrm>
            <a:off x="571680" y="2156400"/>
            <a:ext cx="2653920" cy="43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02;p14" descr="image.png"/>
          <p:cNvPicPr/>
          <p:nvPr/>
        </p:nvPicPr>
        <p:blipFill>
          <a:blip r:embed="rId3"/>
          <a:stretch/>
        </p:blipFill>
        <p:spPr>
          <a:xfrm>
            <a:off x="3369600" y="2156400"/>
            <a:ext cx="2653920" cy="43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3;p14" descr="image.png"/>
          <p:cNvPicPr/>
          <p:nvPr/>
        </p:nvPicPr>
        <p:blipFill>
          <a:blip r:embed="rId4"/>
          <a:stretch/>
        </p:blipFill>
        <p:spPr>
          <a:xfrm>
            <a:off x="6167520" y="2156400"/>
            <a:ext cx="2653920" cy="436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04;p14" descr="image.png"/>
          <p:cNvPicPr/>
          <p:nvPr/>
        </p:nvPicPr>
        <p:blipFill>
          <a:blip r:embed="rId5"/>
          <a:stretch/>
        </p:blipFill>
        <p:spPr>
          <a:xfrm>
            <a:off x="8965440" y="2156400"/>
            <a:ext cx="2653920" cy="436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Google Shape;105;p14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Google Shape;106;p14" descr="image.png"/>
          <p:cNvPicPr/>
          <p:nvPr/>
        </p:nvPicPr>
        <p:blipFill>
          <a:blip r:embed="rId6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07;p14" descr="image.png"/>
          <p:cNvPicPr/>
          <p:nvPr/>
        </p:nvPicPr>
        <p:blipFill>
          <a:blip r:embed="rId7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109;p14"/>
          <p:cNvSpPr/>
          <p:nvPr/>
        </p:nvSpPr>
        <p:spPr>
          <a:xfrm>
            <a:off x="571680" y="428760"/>
            <a:ext cx="50281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D97706"/>
                </a:solidFill>
                <a:effectLst/>
                <a:uFillTx/>
                <a:latin typeface="Inter"/>
                <a:ea typeface="Inter"/>
              </a:rPr>
              <a:t>EAOHP 2026 WORKSHOP • OVERVIEW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0;p14"/>
          <p:cNvSpPr/>
          <p:nvPr/>
        </p:nvSpPr>
        <p:spPr>
          <a:xfrm>
            <a:off x="571680" y="619200"/>
            <a:ext cx="52797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Workshop Structure Overview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1;p14"/>
          <p:cNvSpPr/>
          <p:nvPr/>
        </p:nvSpPr>
        <p:spPr>
          <a:xfrm>
            <a:off x="1123920" y="2394360"/>
            <a:ext cx="1863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01. Foundations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2;p14"/>
          <p:cNvSpPr/>
          <p:nvPr/>
        </p:nvSpPr>
        <p:spPr>
          <a:xfrm>
            <a:off x="809640" y="2756520"/>
            <a:ext cx="217764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Understand dyadic dependencies, assumptions, key APIM parameters, and structural distinguishability.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3;p14"/>
          <p:cNvSpPr/>
          <p:nvPr/>
        </p:nvSpPr>
        <p:spPr>
          <a:xfrm>
            <a:off x="3921840" y="2394360"/>
            <a:ext cx="1863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02. Indistinguishable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4;p14"/>
          <p:cNvSpPr/>
          <p:nvPr/>
        </p:nvSpPr>
        <p:spPr>
          <a:xfrm>
            <a:off x="3607560" y="2985120"/>
            <a:ext cx="217764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Model exchangeable partners using Multilevel Modeling (lme4) and SEM equality constraints.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5;p14"/>
          <p:cNvSpPr/>
          <p:nvPr/>
        </p:nvSpPr>
        <p:spPr>
          <a:xfrm>
            <a:off x="6719760" y="2394360"/>
            <a:ext cx="1863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03. Distinguishable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6;p14"/>
          <p:cNvSpPr/>
          <p:nvPr/>
        </p:nvSpPr>
        <p:spPr>
          <a:xfrm>
            <a:off x="6405480" y="2756520"/>
            <a:ext cx="217764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Evaluate systemic roles (e.g. gender, hierarchy) using moderator, two-intercept, and multi-group SEM variations.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7;p14"/>
          <p:cNvSpPr/>
          <p:nvPr/>
        </p:nvSpPr>
        <p:spPr>
          <a:xfrm>
            <a:off x="9517680" y="2394360"/>
            <a:ext cx="1863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04. Advanced Topics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8;p14"/>
          <p:cNvSpPr/>
          <p:nvPr/>
        </p:nvSpPr>
        <p:spPr>
          <a:xfrm>
            <a:off x="9203400" y="2985120"/>
            <a:ext cx="217764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Address moderated crossover, diary designs, sample size guidelines, and missing data using FIML.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Google Shape;119;p14" descr="image.png"/>
          <p:cNvPicPr/>
          <p:nvPr/>
        </p:nvPicPr>
        <p:blipFill>
          <a:blip r:embed="rId8"/>
          <a:stretch/>
        </p:blipFill>
        <p:spPr>
          <a:xfrm>
            <a:off x="809640" y="242316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20;p14" descr="image.png"/>
          <p:cNvPicPr/>
          <p:nvPr/>
        </p:nvPicPr>
        <p:blipFill>
          <a:blip r:embed="rId9"/>
          <a:stretch/>
        </p:blipFill>
        <p:spPr>
          <a:xfrm>
            <a:off x="3607560" y="253728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121;p14" descr="image.png"/>
          <p:cNvPicPr/>
          <p:nvPr/>
        </p:nvPicPr>
        <p:blipFill>
          <a:blip r:embed="rId10"/>
          <a:stretch/>
        </p:blipFill>
        <p:spPr>
          <a:xfrm>
            <a:off x="6405480" y="242316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22;p14" descr="image.png"/>
          <p:cNvPicPr/>
          <p:nvPr/>
        </p:nvPicPr>
        <p:blipFill>
          <a:blip r:embed="rId11"/>
          <a:stretch/>
        </p:blipFill>
        <p:spPr>
          <a:xfrm>
            <a:off x="9203400" y="253728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SlideIndicator12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lideIndicatorTop124"/>
          <p:cNvSpPr/>
          <p:nvPr/>
        </p:nvSpPr>
        <p:spPr>
          <a:xfrm>
            <a:off x="10686960" y="428760"/>
            <a:ext cx="93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128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130;p15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409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Google Shape;131;p15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3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Google Shape;132;p15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33;p15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Google Shape;134;p15"/>
          <p:cNvSpPr/>
          <p:nvPr/>
        </p:nvSpPr>
        <p:spPr>
          <a:xfrm>
            <a:off x="571680" y="428760"/>
            <a:ext cx="35424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EAOHP 2026 WORKSHOP • FOUNDATIONS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35;p15"/>
          <p:cNvSpPr/>
          <p:nvPr/>
        </p:nvSpPr>
        <p:spPr>
          <a:xfrm>
            <a:off x="571680" y="619200"/>
            <a:ext cx="371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What Is Dyadic Data?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36;p15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Dyadic data arise when observations are gathered in pairs (dyads) that demonstrate systematic interdependence. Common examples include: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7;p15"/>
          <p:cNvSpPr/>
          <p:nvPr/>
        </p:nvSpPr>
        <p:spPr>
          <a:xfrm>
            <a:off x="6748560" y="2043000"/>
            <a:ext cx="4632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Simulated Workshop Dataset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8;p15"/>
          <p:cNvSpPr/>
          <p:nvPr/>
        </p:nvSpPr>
        <p:spPr>
          <a:xfrm>
            <a:off x="6500880" y="2404800"/>
            <a:ext cx="488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utilize a double-earner dataset styled after </a:t>
            </a:r>
            <a:r>
              <a:rPr lang="en-US" sz="1200" b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Hahn, Binnewies, &amp; Dormann (2014, JVB)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9;p15"/>
          <p:cNvSpPr/>
          <p:nvPr/>
        </p:nvSpPr>
        <p:spPr>
          <a:xfrm>
            <a:off x="838080" y="238320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Romantic Couples: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Partners in heterosexual or same-sex relationships (often distinguishable).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0;p15"/>
          <p:cNvSpPr/>
          <p:nvPr/>
        </p:nvSpPr>
        <p:spPr>
          <a:xfrm>
            <a:off x="838080" y="298296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Workplace Dyads: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Supervisor-subordinate, mentor-mentee configurations.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1;p15"/>
          <p:cNvSpPr/>
          <p:nvPr/>
        </p:nvSpPr>
        <p:spPr>
          <a:xfrm>
            <a:off x="838080" y="3583080"/>
            <a:ext cx="5090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Parent-Child Pairs: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Mothers &amp; daughters, fathers &amp; sons.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2;p15"/>
          <p:cNvSpPr/>
          <p:nvPr/>
        </p:nvSpPr>
        <p:spPr>
          <a:xfrm>
            <a:off x="838080" y="3940200"/>
            <a:ext cx="5090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Peer Groups: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Roommates, sports teammates, co-workers.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Google Shape;143;p15" descr="image.png"/>
          <p:cNvPicPr/>
          <p:nvPr/>
        </p:nvPicPr>
        <p:blipFill>
          <a:blip r:embed="rId5"/>
          <a:stretch/>
        </p:blipFill>
        <p:spPr>
          <a:xfrm>
            <a:off x="790560" y="4573800"/>
            <a:ext cx="1893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144;p15"/>
          <p:cNvSpPr/>
          <p:nvPr/>
        </p:nvSpPr>
        <p:spPr>
          <a:xfrm>
            <a:off x="1095480" y="4554720"/>
            <a:ext cx="4613760" cy="8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9F1239"/>
                </a:solidFill>
                <a:effectLst/>
                <a:uFillTx/>
                <a:latin typeface="Inter"/>
                <a:ea typeface="Inter"/>
              </a:rPr>
              <a:t>Non-independence violates classic OLS regression assumptions, leading to biased standard errors and highly inflated Type I error rates.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Google Shape;145;p15" descr="image.png"/>
          <p:cNvPicPr/>
          <p:nvPr/>
        </p:nvPicPr>
        <p:blipFill>
          <a:blip r:embed="rId6"/>
          <a:stretch/>
        </p:blipFill>
        <p:spPr>
          <a:xfrm>
            <a:off x="6500880" y="2071440"/>
            <a:ext cx="15120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Google Shape;146;p15"/>
          <p:cNvSpPr/>
          <p:nvPr/>
        </p:nvSpPr>
        <p:spPr>
          <a:xfrm>
            <a:off x="6767640" y="300492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Sample Size: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N = 100 couples (200 unique individuals)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7;p15"/>
          <p:cNvSpPr/>
          <p:nvPr/>
        </p:nvSpPr>
        <p:spPr>
          <a:xfrm>
            <a:off x="6767640" y="336204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Focal Predictor (X):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Work-Nonwork Connection (WNC)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8;p15"/>
          <p:cNvSpPr/>
          <p:nvPr/>
        </p:nvSpPr>
        <p:spPr>
          <a:xfrm>
            <a:off x="6767640" y="371952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Secondary Covariate (Z):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Psychological Recovery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9;p15"/>
          <p:cNvSpPr/>
          <p:nvPr/>
        </p:nvSpPr>
        <p:spPr>
          <a:xfrm>
            <a:off x="6767640" y="407664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Target Outcome (Y):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Relationship Satisfaction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50;p15"/>
          <p:cNvSpPr/>
          <p:nvPr/>
        </p:nvSpPr>
        <p:spPr>
          <a:xfrm>
            <a:off x="6767640" y="443376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Nesting Indices: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Gender, children indicators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152;p15" descr="image.png"/>
          <p:cNvPicPr/>
          <p:nvPr/>
        </p:nvPicPr>
        <p:blipFill>
          <a:blip r:embed="rId7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153;p15" descr="image.png"/>
          <p:cNvPicPr/>
          <p:nvPr/>
        </p:nvPicPr>
        <p:blipFill>
          <a:blip r:embed="rId8"/>
          <a:stretch/>
        </p:blipFill>
        <p:spPr>
          <a:xfrm>
            <a:off x="571680" y="30117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154;p15" descr="image.png"/>
          <p:cNvPicPr/>
          <p:nvPr/>
        </p:nvPicPr>
        <p:blipFill>
          <a:blip r:embed="rId9"/>
          <a:stretch/>
        </p:blipFill>
        <p:spPr>
          <a:xfrm>
            <a:off x="571680" y="36118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155;p15" descr="image.png"/>
          <p:cNvPicPr/>
          <p:nvPr/>
        </p:nvPicPr>
        <p:blipFill>
          <a:blip r:embed="rId10"/>
          <a:stretch/>
        </p:blipFill>
        <p:spPr>
          <a:xfrm>
            <a:off x="571680" y="39690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156;p15" descr="image.png"/>
          <p:cNvPicPr/>
          <p:nvPr/>
        </p:nvPicPr>
        <p:blipFill>
          <a:blip r:embed="rId11"/>
          <a:stretch/>
        </p:blipFill>
        <p:spPr>
          <a:xfrm>
            <a:off x="6500880" y="30337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157;p15" descr="image.png"/>
          <p:cNvPicPr/>
          <p:nvPr/>
        </p:nvPicPr>
        <p:blipFill>
          <a:blip r:embed="rId12"/>
          <a:stretch/>
        </p:blipFill>
        <p:spPr>
          <a:xfrm>
            <a:off x="6500880" y="33908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158;p15" descr="image.png"/>
          <p:cNvPicPr/>
          <p:nvPr/>
        </p:nvPicPr>
        <p:blipFill>
          <a:blip r:embed="rId13"/>
          <a:stretch/>
        </p:blipFill>
        <p:spPr>
          <a:xfrm>
            <a:off x="6500880" y="37479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159;p15" descr="image.png"/>
          <p:cNvPicPr/>
          <p:nvPr/>
        </p:nvPicPr>
        <p:blipFill>
          <a:blip r:embed="rId14"/>
          <a:stretch/>
        </p:blipFill>
        <p:spPr>
          <a:xfrm>
            <a:off x="6500880" y="41050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160;p15" descr="image.png"/>
          <p:cNvPicPr/>
          <p:nvPr/>
        </p:nvPicPr>
        <p:blipFill>
          <a:blip r:embed="rId15"/>
          <a:stretch/>
        </p:blipFill>
        <p:spPr>
          <a:xfrm>
            <a:off x="6500880" y="44622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SlideIndicator161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lideIndicatorTop162"/>
          <p:cNvSpPr/>
          <p:nvPr/>
        </p:nvSpPr>
        <p:spPr>
          <a:xfrm>
            <a:off x="10686960" y="428760"/>
            <a:ext cx="93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599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601;p30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602;p30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Google Shape;603;p30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4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604;p30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605;p30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Google Shape;606;p30"/>
          <p:cNvSpPr/>
          <p:nvPr/>
        </p:nvSpPr>
        <p:spPr>
          <a:xfrm>
            <a:off x="571680" y="428760"/>
            <a:ext cx="4570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EAOHP 2026 WORKSHOP • EXERCISES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607;p30"/>
          <p:cNvSpPr/>
          <p:nvPr/>
        </p:nvSpPr>
        <p:spPr>
          <a:xfrm>
            <a:off x="571680" y="619200"/>
            <a:ext cx="69987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Workshop Exercises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ubtitle32"/>
          <p:cNvSpPr/>
          <p:nvPr/>
        </p:nvSpPr>
        <p:spPr>
          <a:xfrm>
            <a:off x="571680" y="1080000"/>
            <a:ext cx="107989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An independent simulated dataset for practising crossover-of-work-outcomes techniques on a coherent research question.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608;p30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Research Scenario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609;p30"/>
          <p:cNvSpPr/>
          <p:nvPr/>
        </p:nvSpPr>
        <p:spPr>
          <a:xfrm>
            <a:off x="809640" y="1864440"/>
            <a:ext cx="4880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How does a partner’s affect, self-determination, and job crafting crossover to shape an actor’s work outcomes?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610;p30"/>
          <p:cNvSpPr/>
          <p:nvPr/>
        </p:nvSpPr>
        <p:spPr>
          <a:xfrm>
            <a:off x="681516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Dataset Specification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611;p30"/>
          <p:cNvSpPr/>
          <p:nvPr/>
        </p:nvSpPr>
        <p:spPr>
          <a:xfrm>
            <a:off x="6500880" y="1998360"/>
            <a:ext cx="4880520" cy="18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9000"/>
              </a:lnSpc>
              <a:tabLst>
                <a:tab pos="0" algn="l"/>
              </a:tabLst>
            </a:pPr>
            <a:r>
              <a:rPr lang="en-US" sz="128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N = 250 dual-earner dyads (500 individuals)  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tabLst>
                <a:tab pos="0" algn="l"/>
              </a:tabLst>
            </a:pPr>
            <a:r>
              <a:rPr lang="en-US" sz="128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•  Gender: male / female 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tabLst>
                <a:tab pos="0" algn="l"/>
              </a:tabLst>
            </a:pPr>
            <a:r>
              <a:rPr lang="en-US" sz="128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•  ICC(1) predictors ≈ 0.30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tabLst>
                <a:tab pos="0" algn="l"/>
              </a:tabLst>
            </a:pP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tabLst>
                <a:tab pos="0" algn="l"/>
              </a:tabLst>
            </a:pP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tabLst>
                <a:tab pos="0" algn="l"/>
              </a:tabLst>
            </a:pPr>
            <a:r>
              <a:rPr lang="en-US" sz="128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  Files: exercise_data.Rdata ddl2 (long), ddw2 (wide)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Google Shape;612;p30" descr="image.png"/>
          <p:cNvPicPr/>
          <p:nvPr/>
        </p:nvPicPr>
        <p:blipFill>
          <a:blip r:embed="rId6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Google Shape;613;p30"/>
          <p:cNvSpPr/>
          <p:nvPr/>
        </p:nvSpPr>
        <p:spPr>
          <a:xfrm>
            <a:off x="1076400" y="2400120"/>
            <a:ext cx="46137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Predictors: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actor &amp; partner affect, SDT, job crafting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614;p30"/>
          <p:cNvSpPr/>
          <p:nvPr/>
        </p:nvSpPr>
        <p:spPr>
          <a:xfrm>
            <a:off x="1076400" y="2900160"/>
            <a:ext cx="46137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Outcomes: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engagement, performance, creativity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615;p30"/>
          <p:cNvSpPr/>
          <p:nvPr/>
        </p:nvSpPr>
        <p:spPr>
          <a:xfrm>
            <a:off x="1076400" y="3399840"/>
            <a:ext cx="46137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Moderators: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live together, years together, time spent this morning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Google Shape;616;p30" descr="image.png"/>
          <p:cNvPicPr/>
          <p:nvPr/>
        </p:nvPicPr>
        <p:blipFill>
          <a:blip r:embed="rId7"/>
          <a:stretch/>
        </p:blipFill>
        <p:spPr>
          <a:xfrm>
            <a:off x="650088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620;p30" descr="image.png"/>
          <p:cNvPicPr/>
          <p:nvPr/>
        </p:nvPicPr>
        <p:blipFill>
          <a:blip r:embed="rId8"/>
          <a:stretch/>
        </p:blipFill>
        <p:spPr>
          <a:xfrm>
            <a:off x="809640" y="24001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Google Shape;621;p30" descr="image.png"/>
          <p:cNvPicPr/>
          <p:nvPr/>
        </p:nvPicPr>
        <p:blipFill>
          <a:blip r:embed="rId9"/>
          <a:stretch/>
        </p:blipFill>
        <p:spPr>
          <a:xfrm>
            <a:off x="809640" y="29001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622;p30" descr="image.png"/>
          <p:cNvPicPr/>
          <p:nvPr/>
        </p:nvPicPr>
        <p:blipFill>
          <a:blip r:embed="rId10"/>
          <a:stretch/>
        </p:blipFill>
        <p:spPr>
          <a:xfrm>
            <a:off x="809640" y="33998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SlideIndicator62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4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lideIndicatorTop624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4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3123360" y="4365360"/>
            <a:ext cx="536688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59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Focal crossovers: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partner job crafting x live_together -&gt; engagement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partner SDT x years_together -&gt; 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partner affect x time spent -&gt; creativity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599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oogle Shape;601;p30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oogle Shape;602;p30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Google Shape;603;p30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5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Google Shape;604;p30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oogle Shape;605;p30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Google Shape;606;p30"/>
          <p:cNvSpPr/>
          <p:nvPr/>
        </p:nvSpPr>
        <p:spPr>
          <a:xfrm>
            <a:off x="571680" y="428760"/>
            <a:ext cx="4570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EAOHP 2026 WORKSHOP • EXERCISES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607;p30"/>
          <p:cNvSpPr/>
          <p:nvPr/>
        </p:nvSpPr>
        <p:spPr>
          <a:xfrm>
            <a:off x="571680" y="619200"/>
            <a:ext cx="69987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Exercises &amp; Answer Template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ubtitle33"/>
          <p:cNvSpPr/>
          <p:nvPr/>
        </p:nvSpPr>
        <p:spPr>
          <a:xfrm>
            <a:off x="571680" y="1080000"/>
            <a:ext cx="107989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 guided, prose-only workflow for adapting scripts 02-08 to the exercise dataset - emphasis on interpretation, not copy-paste.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608;p30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47857"/>
                </a:solidFill>
                <a:effectLst/>
                <a:uFillTx/>
                <a:latin typeface="Inter"/>
                <a:ea typeface="Inter"/>
              </a:rPr>
              <a:t>exercises/exercises.md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609;p30"/>
          <p:cNvSpPr/>
          <p:nvPr/>
        </p:nvSpPr>
        <p:spPr>
          <a:xfrm>
            <a:off x="809640" y="1998360"/>
            <a:ext cx="48805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9 sections mirroring scripts 02-08 + integrative Section 9.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610;p30"/>
          <p:cNvSpPr/>
          <p:nvPr/>
        </p:nvSpPr>
        <p:spPr>
          <a:xfrm>
            <a:off x="681516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exercises/answers_template.R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611;p30"/>
          <p:cNvSpPr/>
          <p:nvPr/>
        </p:nvSpPr>
        <p:spPr>
          <a:xfrm>
            <a:off x="6500880" y="1998360"/>
            <a:ext cx="4880520" cy="18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How to use the template: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1.  Run simulate_exercise_data.R to load data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2.  Read exercises.md section by section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3.  Open answers_template.R alongside each script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4.  Apply the substitution table to map data to scripts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9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5.  Write a 1-sentence interpretation as a comment</a:t>
            </a:r>
            <a:endParaRPr lang="en-GB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Google Shape;612;p30" descr="image.png"/>
          <p:cNvPicPr/>
          <p:nvPr/>
        </p:nvPicPr>
        <p:blipFill>
          <a:blip r:embed="rId6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Google Shape;613;p30"/>
          <p:cNvSpPr/>
          <p:nvPr/>
        </p:nvSpPr>
        <p:spPr>
          <a:xfrm>
            <a:off x="1076400" y="2400120"/>
            <a:ext cx="46137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Sections 1-3: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scripts 02-04 (APIM, multilevel, distinguishable)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614;p30"/>
          <p:cNvSpPr/>
          <p:nvPr/>
        </p:nvSpPr>
        <p:spPr>
          <a:xfrm>
            <a:off x="1076400" y="2900160"/>
            <a:ext cx="46137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Sections 4-6: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scripts 05-07 (distinguishable SEM, two-intercept)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615;p30"/>
          <p:cNvSpPr/>
          <p:nvPr/>
        </p:nvSpPr>
        <p:spPr>
          <a:xfrm>
            <a:off x="1076400" y="3399840"/>
            <a:ext cx="461376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Section 9: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integrative reflection across all models on the exercise dataset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Google Shape;616;p30" descr="image.png"/>
          <p:cNvPicPr/>
          <p:nvPr/>
        </p:nvPicPr>
        <p:blipFill>
          <a:blip r:embed="rId7"/>
          <a:stretch/>
        </p:blipFill>
        <p:spPr>
          <a:xfrm>
            <a:off x="650088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Google Shape;620;p30" descr="image.png"/>
          <p:cNvPicPr/>
          <p:nvPr/>
        </p:nvPicPr>
        <p:blipFill>
          <a:blip r:embed="rId8"/>
          <a:stretch/>
        </p:blipFill>
        <p:spPr>
          <a:xfrm>
            <a:off x="809640" y="24001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Google Shape;621;p30" descr="image.png"/>
          <p:cNvPicPr/>
          <p:nvPr/>
        </p:nvPicPr>
        <p:blipFill>
          <a:blip r:embed="rId9"/>
          <a:stretch/>
        </p:blipFill>
        <p:spPr>
          <a:xfrm>
            <a:off x="809640" y="29001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Google Shape;622;p30" descr="image.png"/>
          <p:cNvPicPr/>
          <p:nvPr/>
        </p:nvPicPr>
        <p:blipFill>
          <a:blip r:embed="rId10"/>
          <a:stretch/>
        </p:blipFill>
        <p:spPr>
          <a:xfrm>
            <a:off x="809640" y="33998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SlideIndicator62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5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lideIndicatorTop624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5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65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Google Shape;167;p16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361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Google Shape;168;p16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6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Google Shape;169;p16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Google Shape;170;p16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171;p16"/>
          <p:cNvSpPr/>
          <p:nvPr/>
        </p:nvSpPr>
        <p:spPr>
          <a:xfrm>
            <a:off x="571680" y="428760"/>
            <a:ext cx="34754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EAOHP 2026 WORKSHOP • FOUNDATIONS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172;p16"/>
          <p:cNvSpPr/>
          <p:nvPr/>
        </p:nvSpPr>
        <p:spPr>
          <a:xfrm>
            <a:off x="571680" y="619200"/>
            <a:ext cx="36493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The APIM Framework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173;p16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The **Actor-Partner Interdependence Model** (Kenny, Kashy, &amp; Cook, 2006) resolves dyadic dependencies by estimating individual pathways simultaneously: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174;p16"/>
          <p:cNvSpPr/>
          <p:nvPr/>
        </p:nvSpPr>
        <p:spPr>
          <a:xfrm>
            <a:off x="838080" y="238320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Actor Effects (a):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The influence of your own predictor status on your own target outcome (e.g. Own connection → Own satisfaction).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175;p16"/>
          <p:cNvSpPr/>
          <p:nvPr/>
        </p:nvSpPr>
        <p:spPr>
          <a:xfrm>
            <a:off x="838080" y="322596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Partner Effects (p):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The interpersonal crossover of your partner's predictor on your outcome (e.g. Partner's connection → Own satisfaction).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176;p16"/>
          <p:cNvSpPr/>
          <p:nvPr/>
        </p:nvSpPr>
        <p:spPr>
          <a:xfrm>
            <a:off x="838080" y="406908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Simultaneous Control: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Modeling actor and partner paths together extracts true cross-partner influence while isolating individual biases.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Google Shape;178;p16" descr="image.png"/>
          <p:cNvPicPr/>
          <p:nvPr/>
        </p:nvPicPr>
        <p:blipFill>
          <a:blip r:embed="rId5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Google Shape;179;p16" descr="image.png"/>
          <p:cNvPicPr/>
          <p:nvPr/>
        </p:nvPicPr>
        <p:blipFill>
          <a:blip r:embed="rId6"/>
          <a:stretch/>
        </p:blipFill>
        <p:spPr>
          <a:xfrm>
            <a:off x="571680" y="32544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oogle Shape;180;p16" descr="image.png"/>
          <p:cNvPicPr/>
          <p:nvPr/>
        </p:nvPicPr>
        <p:blipFill>
          <a:blip r:embed="rId7"/>
          <a:stretch/>
        </p:blipFill>
        <p:spPr>
          <a:xfrm>
            <a:off x="571680" y="40975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SlideIndicator181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6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lideIndicatorTop182"/>
          <p:cNvSpPr/>
          <p:nvPr/>
        </p:nvSpPr>
        <p:spPr>
          <a:xfrm>
            <a:off x="10686960" y="428760"/>
            <a:ext cx="93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6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65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Google Shape;168;p16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7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Google Shape;169;p16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Google Shape;170;p16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Google Shape;171;p16"/>
          <p:cNvSpPr/>
          <p:nvPr/>
        </p:nvSpPr>
        <p:spPr>
          <a:xfrm>
            <a:off x="571680" y="428760"/>
            <a:ext cx="34754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EAOHP 2026 WORKSHOP • FOUNDATIONS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lideIndicator181"/>
          <p:cNvSpPr/>
          <p:nvPr/>
        </p:nvSpPr>
        <p:spPr>
          <a:xfrm>
            <a:off x="10306080" y="6356160"/>
            <a:ext cx="16945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7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lideIndicatorTop182"/>
          <p:cNvSpPr/>
          <p:nvPr/>
        </p:nvSpPr>
        <p:spPr>
          <a:xfrm>
            <a:off x="10686960" y="455400"/>
            <a:ext cx="9324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7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Google Shape;335;p21" descr="image.png"/>
          <p:cNvPicPr/>
          <p:nvPr/>
        </p:nvPicPr>
        <p:blipFill>
          <a:blip r:embed="rId4"/>
          <a:stretch/>
        </p:blipFill>
        <p:spPr>
          <a:xfrm>
            <a:off x="571680" y="1369800"/>
            <a:ext cx="5356800" cy="433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oogle Shape;336;p21" descr="image.png"/>
          <p:cNvPicPr/>
          <p:nvPr/>
        </p:nvPicPr>
        <p:blipFill>
          <a:blip r:embed="rId5"/>
          <a:stretch/>
        </p:blipFill>
        <p:spPr>
          <a:xfrm>
            <a:off x="6262560" y="1369800"/>
            <a:ext cx="5356800" cy="433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Google Shape;338;p21" descr="image.png"/>
          <p:cNvPicPr/>
          <p:nvPr/>
        </p:nvPicPr>
        <p:blipFill>
          <a:blip r:embed="rId6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Google Shape;339;p21" descr="image.png"/>
          <p:cNvPicPr/>
          <p:nvPr/>
        </p:nvPicPr>
        <p:blipFill>
          <a:blip r:embed="rId7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Google Shape;342;p21" descr="image.png"/>
          <p:cNvPicPr/>
          <p:nvPr/>
        </p:nvPicPr>
        <p:blipFill>
          <a:blip r:embed="rId8"/>
          <a:stretch/>
        </p:blipFill>
        <p:spPr>
          <a:xfrm>
            <a:off x="752400" y="5991120"/>
            <a:ext cx="1893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Google Shape;343;p21"/>
          <p:cNvSpPr/>
          <p:nvPr/>
        </p:nvSpPr>
        <p:spPr>
          <a:xfrm>
            <a:off x="1057320" y="5972040"/>
            <a:ext cx="103813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9F1239"/>
                </a:solidFill>
                <a:effectLst/>
                <a:uFillTx/>
                <a:latin typeface="Inter"/>
                <a:ea typeface="Inter"/>
              </a:rPr>
              <a:t>Important:</a:t>
            </a:r>
            <a:r>
              <a:rPr lang="en-US" sz="1130" b="0" u="none" strike="noStrike">
                <a:solidFill>
                  <a:srgbClr val="9F1239"/>
                </a:solidFill>
                <a:effectLst/>
                <a:uFillTx/>
                <a:latin typeface="Inter"/>
                <a:ea typeface="Inter"/>
              </a:rPr>
              <a:t> Indistinguishability is an empirical hypothesis. Always test it formally (by comparing a constrained model with an unconstrained version) before locking in equal-parameter constraints!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344;p21"/>
          <p:cNvSpPr/>
          <p:nvPr/>
        </p:nvSpPr>
        <p:spPr>
          <a:xfrm>
            <a:off x="1123920" y="164592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Indistinguishable Dyads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345;p21"/>
          <p:cNvSpPr/>
          <p:nvPr/>
        </p:nvSpPr>
        <p:spPr>
          <a:xfrm>
            <a:off x="809640" y="2007720"/>
            <a:ext cx="488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Members are exchangeable. No baseline or stable structural variable differentiates them.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346;p21"/>
          <p:cNvSpPr/>
          <p:nvPr/>
        </p:nvSpPr>
        <p:spPr>
          <a:xfrm>
            <a:off x="6815160" y="164592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Distinguishable Dyads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347;p21"/>
          <p:cNvSpPr/>
          <p:nvPr/>
        </p:nvSpPr>
        <p:spPr>
          <a:xfrm>
            <a:off x="6500880" y="2007720"/>
            <a:ext cx="488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Members can be classified using a systematic, theoretical variable that is consistent across the sample.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Google Shape;348;p21" descr="image.png"/>
          <p:cNvPicPr/>
          <p:nvPr/>
        </p:nvPicPr>
        <p:blipFill>
          <a:blip r:embed="rId9"/>
          <a:stretch/>
        </p:blipFill>
        <p:spPr>
          <a:xfrm>
            <a:off x="809640" y="167436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Google Shape;349;p21"/>
          <p:cNvSpPr/>
          <p:nvPr/>
        </p:nvSpPr>
        <p:spPr>
          <a:xfrm>
            <a:off x="1076400" y="257940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Arbitrary Labels: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Partner labels (e.g. A vs B, Left vs Right) are completely interchangeable.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350;p21"/>
          <p:cNvSpPr/>
          <p:nvPr/>
        </p:nvSpPr>
        <p:spPr>
          <a:xfrm>
            <a:off x="1076400" y="317952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Equality Constraints: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Actor and partner slopes must be constrained to be mathematically equal across partners.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351;p21"/>
          <p:cNvSpPr/>
          <p:nvPr/>
        </p:nvSpPr>
        <p:spPr>
          <a:xfrm>
            <a:off x="1076400" y="377964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Typical Examples: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Same-sex roommates, co-workers of equal organizational rank, sibling pairs.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Google Shape;352;p21" descr="image.png"/>
          <p:cNvPicPr/>
          <p:nvPr/>
        </p:nvPicPr>
        <p:blipFill>
          <a:blip r:embed="rId10"/>
          <a:stretch/>
        </p:blipFill>
        <p:spPr>
          <a:xfrm>
            <a:off x="6500880" y="167436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Google Shape;353;p21"/>
          <p:cNvSpPr/>
          <p:nvPr/>
        </p:nvSpPr>
        <p:spPr>
          <a:xfrm>
            <a:off x="6767640" y="257940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Systematic Labels: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Partners are labeled using a meaningful criterion (e.g. Wife/Husband, Boss/Employee).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355;p21"/>
          <p:cNvSpPr/>
          <p:nvPr/>
        </p:nvSpPr>
        <p:spPr>
          <a:xfrm>
            <a:off x="6767640" y="377964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Typical Examples: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Heterosexual couples, medical caregiver-patient dyads, manager-employee pairs.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Google Shape;357;p21" descr="image.png"/>
          <p:cNvPicPr/>
          <p:nvPr/>
        </p:nvPicPr>
        <p:blipFill>
          <a:blip r:embed="rId11"/>
          <a:stretch/>
        </p:blipFill>
        <p:spPr>
          <a:xfrm>
            <a:off x="809640" y="26078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Google Shape;358;p21" descr="image.png"/>
          <p:cNvPicPr/>
          <p:nvPr/>
        </p:nvPicPr>
        <p:blipFill>
          <a:blip r:embed="rId12"/>
          <a:stretch/>
        </p:blipFill>
        <p:spPr>
          <a:xfrm>
            <a:off x="809640" y="32079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Google Shape;359;p21" descr="image.png"/>
          <p:cNvPicPr/>
          <p:nvPr/>
        </p:nvPicPr>
        <p:blipFill>
          <a:blip r:embed="rId13"/>
          <a:stretch/>
        </p:blipFill>
        <p:spPr>
          <a:xfrm>
            <a:off x="809640" y="38080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Google Shape;360;p21" descr="image.png"/>
          <p:cNvPicPr/>
          <p:nvPr/>
        </p:nvPicPr>
        <p:blipFill>
          <a:blip r:embed="rId14"/>
          <a:stretch/>
        </p:blipFill>
        <p:spPr>
          <a:xfrm>
            <a:off x="6500880" y="26078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Google Shape;361;p21" descr="image.png"/>
          <p:cNvPicPr/>
          <p:nvPr/>
        </p:nvPicPr>
        <p:blipFill>
          <a:blip r:embed="rId15"/>
          <a:stretch/>
        </p:blipFill>
        <p:spPr>
          <a:xfrm>
            <a:off x="6500880" y="32079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Google Shape;362;p21" descr="image.png"/>
          <p:cNvPicPr/>
          <p:nvPr/>
        </p:nvPicPr>
        <p:blipFill>
          <a:blip r:embed="rId16"/>
          <a:stretch/>
        </p:blipFill>
        <p:spPr>
          <a:xfrm>
            <a:off x="6500880" y="38080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Google Shape;341;p21"/>
          <p:cNvSpPr/>
          <p:nvPr/>
        </p:nvSpPr>
        <p:spPr>
          <a:xfrm>
            <a:off x="571680" y="619200"/>
            <a:ext cx="65599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Indistinguishable vs. Distinguishable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40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Google Shape;242;p19" descr="image.png"/>
          <p:cNvPicPr/>
          <p:nvPr/>
        </p:nvPicPr>
        <p:blipFill>
          <a:blip r:embed="rId2"/>
          <a:stretch/>
        </p:blipFill>
        <p:spPr>
          <a:xfrm>
            <a:off x="571680" y="1834560"/>
            <a:ext cx="11048040" cy="27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Google Shape;243;p19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8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Google Shape;244;p19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oogle Shape;245;p19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Google Shape;246;p19"/>
          <p:cNvSpPr/>
          <p:nvPr/>
        </p:nvSpPr>
        <p:spPr>
          <a:xfrm>
            <a:off x="571680" y="1369800"/>
            <a:ext cx="1104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Choose the optimal modeling combination based on your data layout, distinguishability, and nested structures: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48;p19"/>
          <p:cNvSpPr/>
          <p:nvPr/>
        </p:nvSpPr>
        <p:spPr>
          <a:xfrm>
            <a:off x="571680" y="619200"/>
            <a:ext cx="50497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Modeling Options Taxonomy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9" name="Google Shape;249;p19"/>
          <p:cNvGraphicFramePr/>
          <p:nvPr/>
        </p:nvGraphicFramePr>
        <p:xfrm>
          <a:off x="581040" y="1843920"/>
          <a:ext cx="11028960" cy="2693520"/>
        </p:xfrm>
        <a:graphic>
          <a:graphicData uri="http://schemas.openxmlformats.org/drawingml/2006/table">
            <a:tbl>
              <a:tblPr/>
              <a:tblGrid>
                <a:gridCol w="2133360"/>
                <a:gridCol w="2085840"/>
                <a:gridCol w="1295280"/>
                <a:gridCol w="5514840"/>
              </a:tblGrid>
              <a:tr h="448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Modeling Strategy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Analytical Framework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Data Layout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Core Application &amp; Mechanism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48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Indistinguishable APIM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MLM (e.g., lme4)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Long Format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Symmetric pooling of slopes across members; simple intercept ICC check.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48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Moderated MLM APIM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MLM (e.g., lme4)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Long Format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Incorporates member interactions directly into continuous pathways.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48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Two-Intercept MLM APIM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MLM (e.g., lme4)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Long Format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Suppresses overall intercept to map distinct group means simultaneously.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48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Standard SEM APIM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SEM (e.g., lavaan)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Wide Format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Strict parameter constraints, goodness-of-fit indices, FIML for missing data.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48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Multilevel SEM (MSEM)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MSEM (e.g., lavaan)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Long (Nested)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Simultaneous latent variables and complex nesting within nested arrays.</a:t>
                      </a:r>
                      <a:endParaRPr lang="en-GB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pic>
        <p:nvPicPr>
          <p:cNvPr id="230" name="Google Shape;250;p19" descr="image.png"/>
          <p:cNvPicPr/>
          <p:nvPr/>
        </p:nvPicPr>
        <p:blipFill>
          <a:blip r:embed="rId5"/>
          <a:stretch/>
        </p:blipFill>
        <p:spPr>
          <a:xfrm>
            <a:off x="771480" y="4901400"/>
            <a:ext cx="2181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Google Shape;251;p19"/>
          <p:cNvSpPr/>
          <p:nvPr/>
        </p:nvSpPr>
        <p:spPr>
          <a:xfrm>
            <a:off x="1104840" y="4882320"/>
            <a:ext cx="462348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Framework Choice:</a:t>
            </a: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 MLM models excel at complex nesting patterns, daily diaries, and unbalanced structures. SEM provides fit indices, simultaneous constraints, and mediation tests.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Google Shape;252;p19" descr="image.png"/>
          <p:cNvPicPr/>
          <p:nvPr/>
        </p:nvPicPr>
        <p:blipFill>
          <a:blip r:embed="rId6"/>
          <a:stretch/>
        </p:blipFill>
        <p:spPr>
          <a:xfrm>
            <a:off x="6462720" y="4901400"/>
            <a:ext cx="17028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Google Shape;253;p19"/>
          <p:cNvSpPr/>
          <p:nvPr/>
        </p:nvSpPr>
        <p:spPr>
          <a:xfrm>
            <a:off x="6748560" y="4882320"/>
            <a:ext cx="467100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166534"/>
                </a:solidFill>
                <a:effectLst/>
                <a:uFillTx/>
                <a:latin typeface="Inter"/>
                <a:ea typeface="Inter"/>
              </a:rPr>
              <a:t>Specification Tip:</a:t>
            </a:r>
            <a:r>
              <a:rPr lang="en-US" sz="1130" b="0" u="none" strike="noStrike">
                <a:solidFill>
                  <a:srgbClr val="166534"/>
                </a:solidFill>
                <a:effectLst/>
                <a:uFillTx/>
                <a:latin typeface="Inter"/>
                <a:ea typeface="Inter"/>
              </a:rPr>
              <a:t> Wide-format SEM allows testing of complex, non-linear partner spillover parameters and structural residuals that are difficult to write in traditional MLM notation.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lideIndicator254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8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lideIndicatorTop255"/>
          <p:cNvSpPr/>
          <p:nvPr/>
        </p:nvSpPr>
        <p:spPr>
          <a:xfrm>
            <a:off x="10696680" y="428760"/>
            <a:ext cx="922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8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171;p16"/>
          <p:cNvSpPr/>
          <p:nvPr/>
        </p:nvSpPr>
        <p:spPr>
          <a:xfrm>
            <a:off x="571680" y="428760"/>
            <a:ext cx="34754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EAOHP 2026 WORKSHOP • FOUNDATIONS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14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Google Shape;216;p18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20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Google Shape;217;p18" descr="image.png"/>
          <p:cNvPicPr/>
          <p:nvPr/>
        </p:nvPicPr>
        <p:blipFill>
          <a:blip r:embed="rId3"/>
          <a:stretch/>
        </p:blipFill>
        <p:spPr>
          <a:xfrm>
            <a:off x="6500880" y="2084040"/>
            <a:ext cx="4880520" cy="60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Google Shape;218;p18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9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Google Shape;219;p18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2" name="Google Shape;220;p18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Google Shape;221;p18"/>
          <p:cNvSpPr/>
          <p:nvPr/>
        </p:nvSpPr>
        <p:spPr>
          <a:xfrm>
            <a:off x="571680" y="428760"/>
            <a:ext cx="57423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22;p18"/>
          <p:cNvSpPr/>
          <p:nvPr/>
        </p:nvSpPr>
        <p:spPr>
          <a:xfrm>
            <a:off x="571680" y="619200"/>
            <a:ext cx="60296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Multilevel Modeling (Long Format)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223;p18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To handle indistinguishable datasets, format the file in long format (one row per person, two rows per dyad). Random effects adjust for nested interdependence.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224;p18"/>
          <p:cNvSpPr/>
          <p:nvPr/>
        </p:nvSpPr>
        <p:spPr>
          <a:xfrm>
            <a:off x="838080" y="238320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Empty Intercept-Only Model: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Compute the Intra-class Correlation (ICC) to estimate the proportion of shared variance.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25;p18"/>
          <p:cNvSpPr/>
          <p:nvPr/>
        </p:nvSpPr>
        <p:spPr>
          <a:xfrm>
            <a:off x="838080" y="298296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Model Specification: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Estimate both actor and partner paths symmetrically, pooling slope estimators across the dyad members.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26;p18"/>
          <p:cNvSpPr/>
          <p:nvPr/>
        </p:nvSpPr>
        <p:spPr>
          <a:xfrm>
            <a:off x="838080" y="382608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Centering Strategy: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Group-mean center independent variables to cleanly separate within-dyad from between-dyad effects.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27;p18"/>
          <p:cNvSpPr/>
          <p:nvPr/>
        </p:nvSpPr>
        <p:spPr>
          <a:xfrm>
            <a:off x="6729480" y="1607760"/>
            <a:ext cx="4651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MLM Formulation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228;p18"/>
          <p:cNvSpPr/>
          <p:nvPr/>
        </p:nvSpPr>
        <p:spPr>
          <a:xfrm>
            <a:off x="6500880" y="2808000"/>
            <a:ext cx="488052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Where </a:t>
            </a:r>
            <a:r>
              <a:rPr lang="en-US" sz="113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i</a:t>
            </a:r>
            <a:r>
              <a:rPr lang="en-US" sz="113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represents the individual, </a:t>
            </a:r>
            <a:r>
              <a:rPr lang="en-US" sz="113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j</a:t>
            </a:r>
            <a:r>
              <a:rPr lang="en-US" sz="113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represents the dyad, </a:t>
            </a:r>
            <a:r>
              <a:rPr lang="en-US" sz="113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u_j</a:t>
            </a:r>
            <a:r>
              <a:rPr lang="en-US" sz="113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represents the dyad-level random intercept, and </a:t>
            </a:r>
            <a:r>
              <a:rPr lang="en-US" sz="1130" b="0" i="1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e_ij</a:t>
            </a:r>
            <a:r>
              <a:rPr lang="en-US" sz="113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 is individual residual.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Google Shape;229;p18" descr="image.png"/>
          <p:cNvPicPr/>
          <p:nvPr/>
        </p:nvPicPr>
        <p:blipFill>
          <a:blip r:embed="rId6"/>
          <a:stretch/>
        </p:blipFill>
        <p:spPr>
          <a:xfrm>
            <a:off x="6481800" y="3807000"/>
            <a:ext cx="2181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Google Shape;230;p18"/>
          <p:cNvSpPr/>
          <p:nvPr/>
        </p:nvSpPr>
        <p:spPr>
          <a:xfrm>
            <a:off x="6815160" y="3787920"/>
            <a:ext cx="458532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Requires the lme4 package in R for model fitting, and lmerTest to compute Satterthwaite degrees of freedom.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Google Shape;231;p18" descr="image.png"/>
          <p:cNvPicPr/>
          <p:nvPr/>
        </p:nvPicPr>
        <p:blipFill>
          <a:blip r:embed="rId7"/>
          <a:stretch/>
        </p:blipFill>
        <p:spPr>
          <a:xfrm>
            <a:off x="6500880" y="1636200"/>
            <a:ext cx="13212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Google Shape;233;p18" descr="image.png"/>
          <p:cNvPicPr/>
          <p:nvPr/>
        </p:nvPicPr>
        <p:blipFill>
          <a:blip r:embed="rId8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Google Shape;234;p18" descr="image.png"/>
          <p:cNvPicPr/>
          <p:nvPr/>
        </p:nvPicPr>
        <p:blipFill>
          <a:blip r:embed="rId9"/>
          <a:stretch/>
        </p:blipFill>
        <p:spPr>
          <a:xfrm>
            <a:off x="571680" y="30117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Google Shape;235;p18" descr="image.png"/>
          <p:cNvPicPr/>
          <p:nvPr/>
        </p:nvPicPr>
        <p:blipFill>
          <a:blip r:embed="rId10"/>
          <a:stretch/>
        </p:blipFill>
        <p:spPr>
          <a:xfrm>
            <a:off x="571680" y="38545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SlideIndicator236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9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lideIndicatorTop237"/>
          <p:cNvSpPr/>
          <p:nvPr/>
        </p:nvSpPr>
        <p:spPr>
          <a:xfrm>
            <a:off x="10686960" y="428760"/>
            <a:ext cx="93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9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75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Google Shape;277;p20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515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Google Shape;278;p20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515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Google Shape;279;p20" descr="image.png"/>
          <p:cNvPicPr/>
          <p:nvPr/>
        </p:nvPicPr>
        <p:blipFill>
          <a:blip r:embed="rId4"/>
          <a:stretch/>
        </p:blipFill>
        <p:spPr>
          <a:xfrm>
            <a:off x="771480" y="5217480"/>
            <a:ext cx="4956840" cy="114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Google Shape;280;p20" descr="image.png"/>
          <p:cNvPicPr/>
          <p:nvPr/>
        </p:nvPicPr>
        <p:blipFill>
          <a:blip r:embed="rId5"/>
          <a:stretch/>
        </p:blipFill>
        <p:spPr>
          <a:xfrm>
            <a:off x="6462720" y="5217480"/>
            <a:ext cx="4956840" cy="114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Google Shape;281;p20" descr="image.png"/>
          <p:cNvPicPr/>
          <p:nvPr/>
        </p:nvPicPr>
        <p:blipFill>
          <a:blip r:embed="rId6"/>
          <a:stretch/>
        </p:blipFill>
        <p:spPr>
          <a:xfrm>
            <a:off x="771480" y="2112480"/>
            <a:ext cx="4956840" cy="128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Google Shape;282;p20" descr="image.png"/>
          <p:cNvPicPr/>
          <p:nvPr/>
        </p:nvPicPr>
        <p:blipFill>
          <a:blip r:embed="rId7"/>
          <a:stretch/>
        </p:blipFill>
        <p:spPr>
          <a:xfrm>
            <a:off x="6462720" y="2112480"/>
            <a:ext cx="4956840" cy="21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Google Shape;283;p20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10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Google Shape;284;p20" descr="image.png"/>
          <p:cNvPicPr/>
          <p:nvPr/>
        </p:nvPicPr>
        <p:blipFill>
          <a:blip r:embed="rId8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Google Shape;285;p20" descr="image.png"/>
          <p:cNvPicPr/>
          <p:nvPr/>
        </p:nvPicPr>
        <p:blipFill>
          <a:blip r:embed="rId9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Google Shape;286;p20"/>
          <p:cNvSpPr/>
          <p:nvPr/>
        </p:nvSpPr>
        <p:spPr>
          <a:xfrm>
            <a:off x="571680" y="428760"/>
            <a:ext cx="39042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287;p20"/>
          <p:cNvSpPr/>
          <p:nvPr/>
        </p:nvSpPr>
        <p:spPr>
          <a:xfrm>
            <a:off x="571680" y="619200"/>
            <a:ext cx="40993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Reshaping Dyadic Data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88;p20"/>
          <p:cNvSpPr/>
          <p:nvPr/>
        </p:nvSpPr>
        <p:spPr>
          <a:xfrm>
            <a:off x="1038240" y="1531440"/>
            <a:ext cx="469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Wide Format (1 Row/Dyad)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289;p20"/>
          <p:cNvSpPr/>
          <p:nvPr/>
        </p:nvSpPr>
        <p:spPr>
          <a:xfrm>
            <a:off x="771480" y="1836360"/>
            <a:ext cx="4956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Standard for SEM with suffix variable labels mapping to specific roles.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290;p20"/>
          <p:cNvSpPr/>
          <p:nvPr/>
        </p:nvSpPr>
        <p:spPr>
          <a:xfrm>
            <a:off x="933480" y="5341320"/>
            <a:ext cx="20563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64748B"/>
                </a:solidFill>
                <a:effectLst/>
                <a:uFillTx/>
                <a:latin typeface="Fira Code"/>
                <a:ea typeface="Fira Code"/>
              </a:rPr>
              <a:t># Reshape from Wide to Long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291;p20"/>
          <p:cNvSpPr/>
          <p:nvPr/>
        </p:nvSpPr>
        <p:spPr>
          <a:xfrm>
            <a:off x="1085760" y="5700240"/>
            <a:ext cx="9133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BBF24"/>
                </a:solidFill>
                <a:effectLst/>
                <a:uFillTx/>
                <a:latin typeface="Fira Code"/>
                <a:ea typeface="Fira Code"/>
              </a:rPr>
              <a:t>pivot_longer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292;p20"/>
          <p:cNvSpPr/>
          <p:nvPr/>
        </p:nvSpPr>
        <p:spPr>
          <a:xfrm>
            <a:off x="2076480" y="5700240"/>
            <a:ext cx="303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cols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293;p20"/>
          <p:cNvSpPr/>
          <p:nvPr/>
        </p:nvSpPr>
        <p:spPr>
          <a:xfrm>
            <a:off x="1238400" y="5879880"/>
            <a:ext cx="6084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names_to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294;p20"/>
          <p:cNvSpPr/>
          <p:nvPr/>
        </p:nvSpPr>
        <p:spPr>
          <a:xfrm>
            <a:off x="2076480" y="5879880"/>
            <a:ext cx="752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BBF24"/>
                </a:solidFill>
                <a:effectLst/>
                <a:uFillTx/>
                <a:latin typeface="Fira Code"/>
                <a:ea typeface="Fira Code"/>
              </a:rPr>
              <a:t>c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295;p20"/>
          <p:cNvSpPr/>
          <p:nvPr/>
        </p:nvSpPr>
        <p:spPr>
          <a:xfrm>
            <a:off x="2228760" y="5879880"/>
            <a:ext cx="6084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4D399"/>
                </a:solidFill>
                <a:effectLst/>
                <a:uFillTx/>
                <a:latin typeface="Fira Code"/>
                <a:ea typeface="Fira Code"/>
              </a:rPr>
              <a:t>".value"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296;p20"/>
          <p:cNvSpPr/>
          <p:nvPr/>
        </p:nvSpPr>
        <p:spPr>
          <a:xfrm>
            <a:off x="2990880" y="5879880"/>
            <a:ext cx="4561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4D399"/>
                </a:solidFill>
                <a:effectLst/>
                <a:uFillTx/>
                <a:latin typeface="Fira Code"/>
                <a:ea typeface="Fira Code"/>
              </a:rPr>
              <a:t>"role"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297;p20"/>
          <p:cNvSpPr/>
          <p:nvPr/>
        </p:nvSpPr>
        <p:spPr>
          <a:xfrm>
            <a:off x="1238400" y="6059520"/>
            <a:ext cx="6847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names_sep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298;p20"/>
          <p:cNvSpPr/>
          <p:nvPr/>
        </p:nvSpPr>
        <p:spPr>
          <a:xfrm>
            <a:off x="2152800" y="6059520"/>
            <a:ext cx="227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4D399"/>
                </a:solidFill>
                <a:effectLst/>
                <a:uFillTx/>
                <a:latin typeface="Fira Code"/>
                <a:ea typeface="Fira Code"/>
              </a:rPr>
              <a:t>"_"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299;p20"/>
          <p:cNvSpPr/>
          <p:nvPr/>
        </p:nvSpPr>
        <p:spPr>
          <a:xfrm>
            <a:off x="6662880" y="1531440"/>
            <a:ext cx="4756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Long Format (2 Rows/Dyad)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00;p20"/>
          <p:cNvSpPr/>
          <p:nvPr/>
        </p:nvSpPr>
        <p:spPr>
          <a:xfrm>
            <a:off x="6462720" y="1836360"/>
            <a:ext cx="4956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Standard for MLM with repeated observations nested within a single key.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01;p20"/>
          <p:cNvSpPr/>
          <p:nvPr/>
        </p:nvSpPr>
        <p:spPr>
          <a:xfrm>
            <a:off x="6624720" y="5341320"/>
            <a:ext cx="20563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64748B"/>
                </a:solidFill>
                <a:effectLst/>
                <a:uFillTx/>
                <a:latin typeface="Fira Code"/>
                <a:ea typeface="Fira Code"/>
              </a:rPr>
              <a:t># Reshape from Long to Wide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02;p20"/>
          <p:cNvSpPr/>
          <p:nvPr/>
        </p:nvSpPr>
        <p:spPr>
          <a:xfrm>
            <a:off x="6777000" y="5700240"/>
            <a:ext cx="8370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BBF24"/>
                </a:solidFill>
                <a:effectLst/>
                <a:uFillTx/>
                <a:latin typeface="Fira Code"/>
                <a:ea typeface="Fira Code"/>
              </a:rPr>
              <a:t>pivot_wider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03;p20"/>
          <p:cNvSpPr/>
          <p:nvPr/>
        </p:nvSpPr>
        <p:spPr>
          <a:xfrm>
            <a:off x="7691400" y="5700240"/>
            <a:ext cx="5324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id_cols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304;p20"/>
          <p:cNvSpPr/>
          <p:nvPr/>
        </p:nvSpPr>
        <p:spPr>
          <a:xfrm>
            <a:off x="6929280" y="5879880"/>
            <a:ext cx="7610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names_from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05;p20"/>
          <p:cNvSpPr/>
          <p:nvPr/>
        </p:nvSpPr>
        <p:spPr>
          <a:xfrm>
            <a:off x="6929280" y="6059520"/>
            <a:ext cx="8370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values_from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06;p20"/>
          <p:cNvSpPr/>
          <p:nvPr/>
        </p:nvSpPr>
        <p:spPr>
          <a:xfrm>
            <a:off x="7996320" y="6059520"/>
            <a:ext cx="752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4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BBF24"/>
                </a:solidFill>
                <a:effectLst/>
                <a:uFillTx/>
                <a:latin typeface="Fira Code"/>
                <a:ea typeface="Fira Code"/>
              </a:rPr>
              <a:t>c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Google Shape;307;p20" descr="image.png"/>
          <p:cNvPicPr/>
          <p:nvPr/>
        </p:nvPicPr>
        <p:blipFill>
          <a:blip r:embed="rId10"/>
          <a:stretch/>
        </p:blipFill>
        <p:spPr>
          <a:xfrm>
            <a:off x="771480" y="156024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91" name="Google Shape;308;p20"/>
          <p:cNvGraphicFramePr/>
          <p:nvPr/>
        </p:nvGraphicFramePr>
        <p:xfrm>
          <a:off x="781200" y="2122200"/>
          <a:ext cx="4937400" cy="1265760"/>
        </p:xfrm>
        <a:graphic>
          <a:graphicData uri="http://schemas.openxmlformats.org/drawingml/2006/table">
            <a:tbl>
              <a:tblPr/>
              <a:tblGrid>
                <a:gridCol w="1059120"/>
                <a:gridCol w="998280"/>
                <a:gridCol w="1032480"/>
                <a:gridCol w="906480"/>
                <a:gridCol w="941400"/>
              </a:tblGrid>
              <a:tr h="421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dyad_id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wnc_a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wnc_p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sat_a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sat_p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21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3.8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5.1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4.9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219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3.1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3.2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4.8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4.7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292" name="Google Shape;309;p20" descr="image.png"/>
          <p:cNvPicPr/>
          <p:nvPr/>
        </p:nvPicPr>
        <p:blipFill>
          <a:blip r:embed="rId11"/>
          <a:stretch/>
        </p:blipFill>
        <p:spPr>
          <a:xfrm>
            <a:off x="6462720" y="1560240"/>
            <a:ext cx="103680" cy="1702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93" name="Google Shape;310;p20"/>
          <p:cNvGraphicFramePr/>
          <p:nvPr/>
        </p:nvGraphicFramePr>
        <p:xfrm>
          <a:off x="6472080" y="2122200"/>
          <a:ext cx="4937760" cy="2124000"/>
        </p:xfrm>
        <a:graphic>
          <a:graphicData uri="http://schemas.openxmlformats.org/drawingml/2006/table">
            <a:tbl>
              <a:tblPr/>
              <a:tblGrid>
                <a:gridCol w="1444320"/>
                <a:gridCol w="1404360"/>
                <a:gridCol w="1107000"/>
                <a:gridCol w="982440"/>
              </a:tblGrid>
              <a:tr h="424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dyad_id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role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wnc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sat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24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person_1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5.1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24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person_2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3.8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4.9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24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person_1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3.1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4.8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24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person_2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3.2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4.7</a:t>
                      </a:r>
                      <a:endParaRPr lang="en-GB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94" name="SlideIndicator311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10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lideIndicatorTop312"/>
          <p:cNvSpPr/>
          <p:nvPr/>
        </p:nvSpPr>
        <p:spPr>
          <a:xfrm>
            <a:off x="10686960" y="428760"/>
            <a:ext cx="93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10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367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Google Shape;371;p22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Google Shape;372;p22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Google Shape;373;p22"/>
          <p:cNvSpPr/>
          <p:nvPr/>
        </p:nvSpPr>
        <p:spPr>
          <a:xfrm>
            <a:off x="571680" y="428760"/>
            <a:ext cx="50853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74;p22"/>
          <p:cNvSpPr/>
          <p:nvPr/>
        </p:nvSpPr>
        <p:spPr>
          <a:xfrm>
            <a:off x="571680" y="619200"/>
            <a:ext cx="533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 Code: Indistinguishable MLM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75;p22"/>
          <p:cNvSpPr/>
          <p:nvPr/>
        </p:nvSpPr>
        <p:spPr>
          <a:xfrm>
            <a:off x="571680" y="1369800"/>
            <a:ext cx="5356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estimate the basic APIM framework step-by-step using lmer. Ensure your package environment is properly configured: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88;p22"/>
          <p:cNvSpPr/>
          <p:nvPr/>
        </p:nvSpPr>
        <p:spPr>
          <a:xfrm>
            <a:off x="838080" y="2108880"/>
            <a:ext cx="5090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Loads data in </a:t>
            </a: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long format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(one row per partner).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89;p22"/>
          <p:cNvSpPr/>
          <p:nvPr/>
        </p:nvSpPr>
        <p:spPr>
          <a:xfrm>
            <a:off x="838080" y="2466000"/>
            <a:ext cx="50900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Calculates the **ICC** to verify within-dyad correlation.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90;p22"/>
          <p:cNvSpPr/>
          <p:nvPr/>
        </p:nvSpPr>
        <p:spPr>
          <a:xfrm>
            <a:off x="838080" y="282312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Includes covariates: Recovery, Children status, and Dual-Earner category.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Google Shape;391;p22" descr="image.png"/>
          <p:cNvPicPr/>
          <p:nvPr/>
        </p:nvPicPr>
        <p:blipFill>
          <a:blip r:embed="rId4"/>
          <a:stretch/>
        </p:blipFill>
        <p:spPr>
          <a:xfrm>
            <a:off x="790560" y="3699360"/>
            <a:ext cx="752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Google Shape;392;p22"/>
          <p:cNvSpPr/>
          <p:nvPr/>
        </p:nvSpPr>
        <p:spPr>
          <a:xfrm>
            <a:off x="981000" y="3680280"/>
            <a:ext cx="47282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Note:</a:t>
            </a:r>
            <a:r>
              <a:rPr lang="en-US" sz="128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 In indistinguishable setups, standard slope estimators are pooled across groups.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Google Shape;394;p22" descr="image.png"/>
          <p:cNvPicPr/>
          <p:nvPr/>
        </p:nvPicPr>
        <p:blipFill>
          <a:blip r:embed="rId5"/>
          <a:stretch/>
        </p:blipFill>
        <p:spPr>
          <a:xfrm>
            <a:off x="571680" y="21373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Google Shape;395;p22" descr="image.png"/>
          <p:cNvPicPr/>
          <p:nvPr/>
        </p:nvPicPr>
        <p:blipFill>
          <a:blip r:embed="rId6"/>
          <a:stretch/>
        </p:blipFill>
        <p:spPr>
          <a:xfrm>
            <a:off x="571680" y="24944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Google Shape;396;p22" descr="image.png"/>
          <p:cNvPicPr/>
          <p:nvPr/>
        </p:nvPicPr>
        <p:blipFill>
          <a:blip r:embed="rId7"/>
          <a:stretch/>
        </p:blipFill>
        <p:spPr>
          <a:xfrm>
            <a:off x="571680" y="28515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CodeAreaBg398"/>
          <p:cNvSpPr/>
          <p:nvPr/>
        </p:nvSpPr>
        <p:spPr>
          <a:xfrm>
            <a:off x="6262560" y="1369800"/>
            <a:ext cx="5356800" cy="4002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CodeBlock397"/>
          <p:cNvSpPr/>
          <p:nvPr/>
        </p:nvSpPr>
        <p:spPr>
          <a:xfrm>
            <a:off x="6462720" y="1619640"/>
            <a:ext cx="4956840" cy="36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Indistinguishable MLM (script 02)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library(lme4); library(lmerTest)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load("dyad_data.RData")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1. Null model + ICC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m0 &lt;- lmer(sat ~ 1 + (1 | dyad), data=ddl)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icc(m0)  # between / (between + residual)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2. Full APIM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m1 &lt;- lmer(sat ~ wnc + partner_wnc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recovery + has_children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dual_earner + (1 | dyad), data=ddl)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summary(m1)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lideIndicator399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11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lideIndicatorTop400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11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401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Google Shape;403;p23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276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Google Shape;405;p23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12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Google Shape;406;p23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Google Shape;407;p23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Google Shape;408;p23"/>
          <p:cNvSpPr/>
          <p:nvPr/>
        </p:nvSpPr>
        <p:spPr>
          <a:xfrm>
            <a:off x="571680" y="428760"/>
            <a:ext cx="56854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409;p23"/>
          <p:cNvSpPr/>
          <p:nvPr/>
        </p:nvSpPr>
        <p:spPr>
          <a:xfrm>
            <a:off x="571680" y="619200"/>
            <a:ext cx="596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Hands-On: Indistinguishable MLM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410;p23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Active Code Session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411;p23"/>
          <p:cNvSpPr/>
          <p:nvPr/>
        </p:nvSpPr>
        <p:spPr>
          <a:xfrm>
            <a:off x="809640" y="1998360"/>
            <a:ext cx="4880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Let's execute your first multilevel APIM scripts in RStudio: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Google Shape;413;p23" descr="image.png"/>
          <p:cNvPicPr/>
          <p:nvPr/>
        </p:nvPicPr>
        <p:blipFill>
          <a:blip r:embed="rId5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Google Shape;414;p23"/>
          <p:cNvSpPr/>
          <p:nvPr/>
        </p:nvSpPr>
        <p:spPr>
          <a:xfrm>
            <a:off x="1076400" y="234108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Open: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scripts/02_indistinguishable_mlm.R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415;p23"/>
          <p:cNvSpPr/>
          <p:nvPr/>
        </p:nvSpPr>
        <p:spPr>
          <a:xfrm>
            <a:off x="1076400" y="269856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Run: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Estimate the null model and compute the ICC: </a:t>
            </a:r>
            <a:br>
              <a:rPr sz="1800"/>
            </a:b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ICC = σ²_between / (σ²_between + σ²_residual)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416;p23"/>
          <p:cNvSpPr/>
          <p:nvPr/>
        </p:nvSpPr>
        <p:spPr>
          <a:xfrm>
            <a:off x="1076400" y="329832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Review: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Run the full APIM and note the actor vs partner effect signs.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Google Shape;422;p23" descr="image.png"/>
          <p:cNvPicPr/>
          <p:nvPr/>
        </p:nvPicPr>
        <p:blipFill>
          <a:blip r:embed="rId6"/>
          <a:stretch/>
        </p:blipFill>
        <p:spPr>
          <a:xfrm>
            <a:off x="809640" y="23698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Google Shape;423;p23" descr="image.png"/>
          <p:cNvPicPr/>
          <p:nvPr/>
        </p:nvPicPr>
        <p:blipFill>
          <a:blip r:embed="rId7"/>
          <a:stretch/>
        </p:blipFill>
        <p:spPr>
          <a:xfrm>
            <a:off x="809640" y="27270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Google Shape;424;p23" descr="image.png"/>
          <p:cNvPicPr/>
          <p:nvPr/>
        </p:nvPicPr>
        <p:blipFill>
          <a:blip r:embed="rId8"/>
          <a:stretch/>
        </p:blipFill>
        <p:spPr>
          <a:xfrm>
            <a:off x="809640" y="33271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SlideIndicator425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lideIndicatorTop426"/>
          <p:cNvSpPr/>
          <p:nvPr/>
        </p:nvSpPr>
        <p:spPr>
          <a:xfrm>
            <a:off x="10658520" y="428760"/>
            <a:ext cx="960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432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Google Shape;434;p24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391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Google Shape;437;p24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13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Google Shape;438;p24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6" name="Google Shape;439;p24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Google Shape;440;p24"/>
          <p:cNvSpPr/>
          <p:nvPr/>
        </p:nvSpPr>
        <p:spPr>
          <a:xfrm>
            <a:off x="571680" y="428760"/>
            <a:ext cx="48852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441;p24"/>
          <p:cNvSpPr/>
          <p:nvPr/>
        </p:nvSpPr>
        <p:spPr>
          <a:xfrm>
            <a:off x="571680" y="619200"/>
            <a:ext cx="51296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Structural Equation Modeling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442;p24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specify explicit path lines inside wide-format data (one row per dyad with distinct suffix labels _a / _p). Equality constraints are declared to enforce indistinguishability: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443;p24"/>
          <p:cNvSpPr/>
          <p:nvPr/>
        </p:nvSpPr>
        <p:spPr>
          <a:xfrm>
            <a:off x="838080" y="238320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Slope Constraints: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Own paths (b_a) and partner paths (b_p) are labeled identically.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444;p24"/>
          <p:cNvSpPr/>
          <p:nvPr/>
        </p:nvSpPr>
        <p:spPr>
          <a:xfrm>
            <a:off x="838080" y="298296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Interceptions/Variances: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Model intercepts, variances, and residuals are restricted to equality.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2" name="Google Shape;447;p24" descr="image.png"/>
          <p:cNvPicPr/>
          <p:nvPr/>
        </p:nvPicPr>
        <p:blipFill>
          <a:blip r:embed="rId5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Google Shape;448;p24" descr="image.png"/>
          <p:cNvPicPr/>
          <p:nvPr/>
        </p:nvPicPr>
        <p:blipFill>
          <a:blip r:embed="rId6"/>
          <a:stretch/>
        </p:blipFill>
        <p:spPr>
          <a:xfrm>
            <a:off x="571680" y="30117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SlideIndicator450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13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lideIndicatorTop451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13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454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Google Shape;458;p25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Google Shape;459;p25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Google Shape;460;p25"/>
          <p:cNvSpPr/>
          <p:nvPr/>
        </p:nvSpPr>
        <p:spPr>
          <a:xfrm>
            <a:off x="571680" y="428760"/>
            <a:ext cx="49996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61;p25"/>
          <p:cNvSpPr/>
          <p:nvPr/>
        </p:nvSpPr>
        <p:spPr>
          <a:xfrm>
            <a:off x="571680" y="619200"/>
            <a:ext cx="524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 Code: Indistinguishable SEM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62;p25"/>
          <p:cNvSpPr/>
          <p:nvPr/>
        </p:nvSpPr>
        <p:spPr>
          <a:xfrm>
            <a:off x="571680" y="1369800"/>
            <a:ext cx="5356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write structural code using lavaan syntax. Suffix tags label identical parameters across equations to enforce symmetry: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76;p25"/>
          <p:cNvSpPr/>
          <p:nvPr/>
        </p:nvSpPr>
        <p:spPr>
          <a:xfrm>
            <a:off x="838080" y="210888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Label Syntax: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Prefixing coefficients with label names (e.g. a_wnc*wnc_a) forces equality.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477;p25"/>
          <p:cNvSpPr/>
          <p:nvPr/>
        </p:nvSpPr>
        <p:spPr>
          <a:xfrm>
            <a:off x="838080" y="270900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Interceptions &amp; Variances: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Restricting intercepts (alpha*1) and residuals (var_res*sat_a) establishes full indistinguishability.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Google Shape;479;p25" descr="image.png"/>
          <p:cNvPicPr/>
          <p:nvPr/>
        </p:nvPicPr>
        <p:blipFill>
          <a:blip r:embed="rId4"/>
          <a:stretch/>
        </p:blipFill>
        <p:spPr>
          <a:xfrm>
            <a:off x="571680" y="21373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Google Shape;480;p25" descr="image.png"/>
          <p:cNvPicPr/>
          <p:nvPr/>
        </p:nvPicPr>
        <p:blipFill>
          <a:blip r:embed="rId5"/>
          <a:stretch/>
        </p:blipFill>
        <p:spPr>
          <a:xfrm>
            <a:off x="571680" y="27374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CodeAreaBg482"/>
          <p:cNvSpPr/>
          <p:nvPr/>
        </p:nvSpPr>
        <p:spPr>
          <a:xfrm>
            <a:off x="6262560" y="1369800"/>
            <a:ext cx="5356800" cy="48027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CodeBlock481"/>
          <p:cNvSpPr/>
          <p:nvPr/>
        </p:nvSpPr>
        <p:spPr>
          <a:xfrm>
            <a:off x="6462720" y="1619640"/>
            <a:ext cx="4956840" cy="44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Indistinguishable SEM wide (script 03)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library(lavaan)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mod_c &lt;- '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sat_a ~ a_wnc*wnc_a + p_wnc*wnc_p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a_rec*rec_a + p_rec*rec_p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c_ch*child + c_du*dual_earner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sat_p ~ a_wnc*wnc_p + p_wnc*wnc_a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a_rec*rec_p + p_rec*rec_a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c_ch*child + c_du*dual_earner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sat_a ~ alpha*1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sat_p ~ alpha*1       # equal intercepts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sat_a ~~ var_res*sat_a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sat_p ~~ var_res*sat_p  # equal residuals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'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fit &lt;- sem(mod_c, data=ddw)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lideIndicator48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14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lideIndicatorTop484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14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485;p2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Google Shape;487;p26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412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Google Shape;488;p26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41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Google Shape;489;p26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15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Google Shape;490;p26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Google Shape;491;p26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Google Shape;492;p26"/>
          <p:cNvSpPr/>
          <p:nvPr/>
        </p:nvSpPr>
        <p:spPr>
          <a:xfrm>
            <a:off x="571680" y="428760"/>
            <a:ext cx="55998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493;p26"/>
          <p:cNvSpPr/>
          <p:nvPr/>
        </p:nvSpPr>
        <p:spPr>
          <a:xfrm>
            <a:off x="571680" y="619200"/>
            <a:ext cx="587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Hands-On: Indistinguishable SEM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494;p26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Active Coding Session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495;p26"/>
          <p:cNvSpPr/>
          <p:nvPr/>
        </p:nvSpPr>
        <p:spPr>
          <a:xfrm>
            <a:off x="809640" y="1998360"/>
            <a:ext cx="488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Let's transition from multilevel modeling to structural equation modeling: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96;p26"/>
          <p:cNvSpPr/>
          <p:nvPr/>
        </p:nvSpPr>
        <p:spPr>
          <a:xfrm>
            <a:off x="6767640" y="1636200"/>
            <a:ext cx="461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Questions to Explore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497;p26"/>
          <p:cNvSpPr/>
          <p:nvPr/>
        </p:nvSpPr>
        <p:spPr>
          <a:xfrm>
            <a:off x="6500880" y="1998360"/>
            <a:ext cx="4880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Compare the parameter values from Model A (cluster-robust) with Model B (two-level SEM) to Model C (wide-format constraint).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2" name="Google Shape;498;p26" descr="image.png"/>
          <p:cNvPicPr/>
          <p:nvPr/>
        </p:nvPicPr>
        <p:blipFill>
          <a:blip r:embed="rId6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Google Shape;499;p26"/>
          <p:cNvSpPr/>
          <p:nvPr/>
        </p:nvSpPr>
        <p:spPr>
          <a:xfrm>
            <a:off x="1076400" y="256968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Open: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scripts/03_indistinguishable_sem.R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Google Shape;500;p26"/>
          <p:cNvSpPr/>
          <p:nvPr/>
        </p:nvSpPr>
        <p:spPr>
          <a:xfrm>
            <a:off x="1076400" y="2945880"/>
            <a:ext cx="461376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Evaluate: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Review the three alternative analytical paradigms defined in the script: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Google Shape;501;p26" descr="image.png"/>
          <p:cNvPicPr/>
          <p:nvPr/>
        </p:nvPicPr>
        <p:blipFill>
          <a:blip r:embed="rId7"/>
          <a:stretch/>
        </p:blipFill>
        <p:spPr>
          <a:xfrm>
            <a:off x="6500880" y="16650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Google Shape;502;p26" descr="image.png"/>
          <p:cNvPicPr/>
          <p:nvPr/>
        </p:nvPicPr>
        <p:blipFill>
          <a:blip r:embed="rId8"/>
          <a:stretch/>
        </p:blipFill>
        <p:spPr>
          <a:xfrm>
            <a:off x="6719760" y="4669920"/>
            <a:ext cx="14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Google Shape;503;p26"/>
          <p:cNvSpPr/>
          <p:nvPr/>
        </p:nvSpPr>
        <p:spPr>
          <a:xfrm>
            <a:off x="6977160" y="4651200"/>
            <a:ext cx="41850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How does structural estimation impact statistical precision in small-to-medium samples?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504;p26"/>
          <p:cNvSpPr/>
          <p:nvPr/>
        </p:nvSpPr>
        <p:spPr>
          <a:xfrm>
            <a:off x="1486080" y="3460320"/>
            <a:ext cx="420408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Model A: Cluster-robust Standard Errors (quick, long format)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505;p26"/>
          <p:cNvSpPr/>
          <p:nvPr/>
        </p:nvSpPr>
        <p:spPr>
          <a:xfrm>
            <a:off x="1486080" y="4060440"/>
            <a:ext cx="420408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Model B: Two-level SEM (within/between decomposition)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Google Shape;507;p26" descr="image.png"/>
          <p:cNvPicPr/>
          <p:nvPr/>
        </p:nvPicPr>
        <p:blipFill>
          <a:blip r:embed="rId9"/>
          <a:stretch/>
        </p:blipFill>
        <p:spPr>
          <a:xfrm>
            <a:off x="809640" y="25984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Google Shape;508;p26" descr="image.png"/>
          <p:cNvPicPr/>
          <p:nvPr/>
        </p:nvPicPr>
        <p:blipFill>
          <a:blip r:embed="rId10"/>
          <a:stretch/>
        </p:blipFill>
        <p:spPr>
          <a:xfrm>
            <a:off x="809640" y="29556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Google Shape;509;p26"/>
          <p:cNvSpPr/>
          <p:nvPr/>
        </p:nvSpPr>
        <p:spPr>
          <a:xfrm>
            <a:off x="1486080" y="4660560"/>
            <a:ext cx="420408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Model C: Wide-format APIM (primary, with full equality constraints)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Google Shape;510;p26" descr="image.png"/>
          <p:cNvPicPr/>
          <p:nvPr/>
        </p:nvPicPr>
        <p:blipFill>
          <a:blip r:embed="rId11"/>
          <a:stretch/>
        </p:blipFill>
        <p:spPr>
          <a:xfrm>
            <a:off x="1219320" y="34891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Google Shape;511;p26" descr="image.png"/>
          <p:cNvPicPr/>
          <p:nvPr/>
        </p:nvPicPr>
        <p:blipFill>
          <a:blip r:embed="rId12"/>
          <a:stretch/>
        </p:blipFill>
        <p:spPr>
          <a:xfrm>
            <a:off x="1219320" y="40888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Google Shape;512;p26" descr="image.png"/>
          <p:cNvPicPr/>
          <p:nvPr/>
        </p:nvPicPr>
        <p:blipFill>
          <a:blip r:embed="rId13"/>
          <a:stretch/>
        </p:blipFill>
        <p:spPr>
          <a:xfrm>
            <a:off x="1219320" y="46890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SlideIndicator51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15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lideIndicatorTop514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15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517;p2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9" name="Google Shape;519;p27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3555000" cy="515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Google Shape;520;p27" descr="image.png"/>
          <p:cNvPicPr/>
          <p:nvPr/>
        </p:nvPicPr>
        <p:blipFill>
          <a:blip r:embed="rId3"/>
          <a:stretch/>
        </p:blipFill>
        <p:spPr>
          <a:xfrm>
            <a:off x="4317840" y="1369800"/>
            <a:ext cx="3555000" cy="515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1" name="Google Shape;521;p27" descr="image.png"/>
          <p:cNvPicPr/>
          <p:nvPr/>
        </p:nvPicPr>
        <p:blipFill>
          <a:blip r:embed="rId4"/>
          <a:stretch/>
        </p:blipFill>
        <p:spPr>
          <a:xfrm>
            <a:off x="8064360" y="1369800"/>
            <a:ext cx="3555000" cy="515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Google Shape;522;p27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16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Google Shape;523;p27" descr="image.png"/>
          <p:cNvPicPr/>
          <p:nvPr/>
        </p:nvPicPr>
        <p:blipFill>
          <a:blip r:embed="rId5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Google Shape;524;p27" descr="image.png"/>
          <p:cNvPicPr/>
          <p:nvPr/>
        </p:nvPicPr>
        <p:blipFill>
          <a:blip r:embed="rId6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Google Shape;525;p27"/>
          <p:cNvSpPr/>
          <p:nvPr/>
        </p:nvSpPr>
        <p:spPr>
          <a:xfrm>
            <a:off x="571680" y="428760"/>
            <a:ext cx="40280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EAOHP 2026 WORKSHOP • INDISTINGUISHABLE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526;p27"/>
          <p:cNvSpPr/>
          <p:nvPr/>
        </p:nvSpPr>
        <p:spPr>
          <a:xfrm>
            <a:off x="571680" y="619200"/>
            <a:ext cx="42292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Core Analytical Insights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527;p27"/>
          <p:cNvSpPr/>
          <p:nvPr/>
        </p:nvSpPr>
        <p:spPr>
          <a:xfrm>
            <a:off x="1076400" y="1607760"/>
            <a:ext cx="2811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Method Convergence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528;p27"/>
          <p:cNvSpPr/>
          <p:nvPr/>
        </p:nvSpPr>
        <p:spPr>
          <a:xfrm>
            <a:off x="809640" y="1969920"/>
            <a:ext cx="30787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Balanced data profiles yield identical point estimates in both **Multilevel (long)** and **SEM (wide with equal constraints)** designs.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529;p27"/>
          <p:cNvSpPr/>
          <p:nvPr/>
        </p:nvSpPr>
        <p:spPr>
          <a:xfrm>
            <a:off x="4803840" y="1607760"/>
            <a:ext cx="2831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LRT Testing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530;p27"/>
          <p:cNvSpPr/>
          <p:nvPr/>
        </p:nvSpPr>
        <p:spPr>
          <a:xfrm>
            <a:off x="4556160" y="1969920"/>
            <a:ext cx="30787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Perform a Chi-Square Difference Test comparing the fully constrained model with an unconstrained version to empirically test for indistinguishability.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531;p27"/>
          <p:cNvSpPr/>
          <p:nvPr/>
        </p:nvSpPr>
        <p:spPr>
          <a:xfrm>
            <a:off x="8569080" y="1607760"/>
            <a:ext cx="2811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Analytical Trade-offs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532;p27"/>
          <p:cNvSpPr/>
          <p:nvPr/>
        </p:nvSpPr>
        <p:spPr>
          <a:xfrm>
            <a:off x="8302680" y="1969920"/>
            <a:ext cx="307872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Why choose SEM over Multilevel for indistinguishable dyads?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Google Shape;533;p27" descr="image.png"/>
          <p:cNvPicPr/>
          <p:nvPr/>
        </p:nvPicPr>
        <p:blipFill>
          <a:blip r:embed="rId7"/>
          <a:stretch/>
        </p:blipFill>
        <p:spPr>
          <a:xfrm>
            <a:off x="809640" y="16362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Google Shape;534;p27" descr="image.png"/>
          <p:cNvPicPr/>
          <p:nvPr/>
        </p:nvPicPr>
        <p:blipFill>
          <a:blip r:embed="rId8"/>
          <a:stretch/>
        </p:blipFill>
        <p:spPr>
          <a:xfrm>
            <a:off x="4556160" y="1636200"/>
            <a:ext cx="15120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Google Shape;535;p27" descr="image.png"/>
          <p:cNvPicPr/>
          <p:nvPr/>
        </p:nvPicPr>
        <p:blipFill>
          <a:blip r:embed="rId9"/>
          <a:stretch/>
        </p:blipFill>
        <p:spPr>
          <a:xfrm>
            <a:off x="8302680" y="16362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Google Shape;536;p27"/>
          <p:cNvSpPr/>
          <p:nvPr/>
        </p:nvSpPr>
        <p:spPr>
          <a:xfrm>
            <a:off x="8569080" y="2537280"/>
            <a:ext cx="28119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Supports multi-item latent variables.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537;p27"/>
          <p:cNvSpPr/>
          <p:nvPr/>
        </p:nvSpPr>
        <p:spPr>
          <a:xfrm>
            <a:off x="8569080" y="2894400"/>
            <a:ext cx="28119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Supports full mediation models.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538;p27"/>
          <p:cNvSpPr/>
          <p:nvPr/>
        </p:nvSpPr>
        <p:spPr>
          <a:xfrm>
            <a:off x="8569080" y="3251880"/>
            <a:ext cx="28119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FIML retains dyads with partial missing values.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Google Shape;540;p27" descr="image.png"/>
          <p:cNvPicPr/>
          <p:nvPr/>
        </p:nvPicPr>
        <p:blipFill>
          <a:blip r:embed="rId10"/>
          <a:stretch/>
        </p:blipFill>
        <p:spPr>
          <a:xfrm>
            <a:off x="8302680" y="25660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Google Shape;541;p27" descr="image.png"/>
          <p:cNvPicPr/>
          <p:nvPr/>
        </p:nvPicPr>
        <p:blipFill>
          <a:blip r:embed="rId11"/>
          <a:stretch/>
        </p:blipFill>
        <p:spPr>
          <a:xfrm>
            <a:off x="8302680" y="29232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1" name="Google Shape;542;p27" descr="image.png"/>
          <p:cNvPicPr/>
          <p:nvPr/>
        </p:nvPicPr>
        <p:blipFill>
          <a:blip r:embed="rId12"/>
          <a:stretch/>
        </p:blipFill>
        <p:spPr>
          <a:xfrm>
            <a:off x="8302680" y="32803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SlideIndicator54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16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lideIndicatorTop544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16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547;p2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Google Shape;549;p28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306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Google Shape;550;p28" descr="image.png"/>
          <p:cNvPicPr/>
          <p:nvPr/>
        </p:nvPicPr>
        <p:blipFill>
          <a:blip r:embed="rId3"/>
          <a:stretch/>
        </p:blipFill>
        <p:spPr>
          <a:xfrm>
            <a:off x="571680" y="2383200"/>
            <a:ext cx="5356800" cy="86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Google Shape;551;p28" descr="image.png"/>
          <p:cNvPicPr/>
          <p:nvPr/>
        </p:nvPicPr>
        <p:blipFill>
          <a:blip r:embed="rId4"/>
          <a:stretch/>
        </p:blipFill>
        <p:spPr>
          <a:xfrm>
            <a:off x="571680" y="3392640"/>
            <a:ext cx="5356800" cy="104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Google Shape;552;p28" descr="image.png"/>
          <p:cNvPicPr/>
          <p:nvPr/>
        </p:nvPicPr>
        <p:blipFill>
          <a:blip r:embed="rId5"/>
          <a:stretch/>
        </p:blipFill>
        <p:spPr>
          <a:xfrm>
            <a:off x="723960" y="2821320"/>
            <a:ext cx="5051880" cy="27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Google Shape;553;p28" descr="image.png"/>
          <p:cNvPicPr/>
          <p:nvPr/>
        </p:nvPicPr>
        <p:blipFill>
          <a:blip r:embed="rId6"/>
          <a:stretch/>
        </p:blipFill>
        <p:spPr>
          <a:xfrm>
            <a:off x="723960" y="3830760"/>
            <a:ext cx="505188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Google Shape;554;p28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17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1" name="Google Shape;555;p28" descr="image.png"/>
          <p:cNvPicPr/>
          <p:nvPr/>
        </p:nvPicPr>
        <p:blipFill>
          <a:blip r:embed="rId7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Google Shape;556;p28" descr="image.png"/>
          <p:cNvPicPr/>
          <p:nvPr/>
        </p:nvPicPr>
        <p:blipFill>
          <a:blip r:embed="rId8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Google Shape;557;p28"/>
          <p:cNvSpPr/>
          <p:nvPr/>
        </p:nvSpPr>
        <p:spPr>
          <a:xfrm>
            <a:off x="571680" y="428760"/>
            <a:ext cx="53424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558;p28"/>
          <p:cNvSpPr/>
          <p:nvPr/>
        </p:nvSpPr>
        <p:spPr>
          <a:xfrm>
            <a:off x="571680" y="619200"/>
            <a:ext cx="560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Moderator Interaction Modeling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Google Shape;559;p28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When dyad members are distinguishable (e.g. heterosexual couples), we can model interactions between predictors and the grouping factor (e.g. gender) in long format.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Google Shape;560;p28"/>
          <p:cNvSpPr/>
          <p:nvPr/>
        </p:nvSpPr>
        <p:spPr>
          <a:xfrm>
            <a:off x="6767640" y="1949760"/>
            <a:ext cx="461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Warning on Version A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561;p28"/>
          <p:cNvSpPr/>
          <p:nvPr/>
        </p:nvSpPr>
        <p:spPr>
          <a:xfrm>
            <a:off x="6500880" y="2311920"/>
            <a:ext cx="48805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1239"/>
                </a:solidFill>
                <a:effectLst/>
                <a:uFillTx/>
                <a:latin typeface="Inter"/>
                <a:ea typeface="Inter"/>
              </a:rPr>
              <a:t>Simple moderator setups (Version A) conflate actor and partner pathways. This can lead to misleading conclusions when evaluating crossover effects.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562;p28"/>
          <p:cNvSpPr/>
          <p:nvPr/>
        </p:nvSpPr>
        <p:spPr>
          <a:xfrm>
            <a:off x="6500880" y="3157560"/>
            <a:ext cx="48805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1239"/>
                </a:solidFill>
                <a:effectLst/>
                <a:uFillTx/>
                <a:latin typeface="Inter"/>
                <a:ea typeface="Inter"/>
              </a:rPr>
              <a:t>Always specify the **Full APIM Moderator** (Version B) to properly separate actor from partner pathways when using the moderator approach in long format.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9" name="Google Shape;563;p28" descr="image.png"/>
          <p:cNvPicPr/>
          <p:nvPr/>
        </p:nvPicPr>
        <p:blipFill>
          <a:blip r:embed="rId9"/>
          <a:stretch/>
        </p:blipFill>
        <p:spPr>
          <a:xfrm>
            <a:off x="6500880" y="19782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Google Shape;564;p28"/>
          <p:cNvSpPr/>
          <p:nvPr/>
        </p:nvSpPr>
        <p:spPr>
          <a:xfrm>
            <a:off x="723960" y="2535480"/>
            <a:ext cx="5304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Version A: Simple Moderator (Conflated)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Google Shape;565;p28"/>
          <p:cNvSpPr/>
          <p:nvPr/>
        </p:nvSpPr>
        <p:spPr>
          <a:xfrm>
            <a:off x="723960" y="3544920"/>
            <a:ext cx="5304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Version B: Full APIM Moderator (Decomposed)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lideIndicator566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17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lideIndicatorTop567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17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571;p2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Google Shape;575;p29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Google Shape;576;p29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Google Shape;577;p29"/>
          <p:cNvSpPr/>
          <p:nvPr/>
        </p:nvSpPr>
        <p:spPr>
          <a:xfrm>
            <a:off x="571680" y="428760"/>
            <a:ext cx="38851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Google Shape;578;p29"/>
          <p:cNvSpPr/>
          <p:nvPr/>
        </p:nvSpPr>
        <p:spPr>
          <a:xfrm>
            <a:off x="571680" y="619200"/>
            <a:ext cx="407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 Code: Moderator MLM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Google Shape;579;p29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write the interaction script for Version B using lmer. This model evaluates if actor and partner effects differ significantly by gender: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590;p29"/>
          <p:cNvSpPr/>
          <p:nvPr/>
        </p:nvSpPr>
        <p:spPr>
          <a:xfrm>
            <a:off x="838080" y="238320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Reference Group: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Male is set as the reference group (simple slope = b_wnc).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Google Shape;591;p29"/>
          <p:cNvSpPr/>
          <p:nvPr/>
        </p:nvSpPr>
        <p:spPr>
          <a:xfrm>
            <a:off x="838080" y="298296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Interaction Term: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Estimates the difference in slopes (female simple slope = b_wnc + b_wnc:genderfemale).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2" name="Google Shape;593;p29" descr="image.png"/>
          <p:cNvPicPr/>
          <p:nvPr/>
        </p:nvPicPr>
        <p:blipFill>
          <a:blip r:embed="rId4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3" name="Google Shape;594;p29" descr="image.png"/>
          <p:cNvPicPr/>
          <p:nvPr/>
        </p:nvPicPr>
        <p:blipFill>
          <a:blip r:embed="rId5"/>
          <a:stretch/>
        </p:blipFill>
        <p:spPr>
          <a:xfrm>
            <a:off x="571680" y="30117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CodeAreaBg596"/>
          <p:cNvSpPr/>
          <p:nvPr/>
        </p:nvSpPr>
        <p:spPr>
          <a:xfrm>
            <a:off x="6262560" y="1369800"/>
            <a:ext cx="5356800" cy="5002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CodeBlock595"/>
          <p:cNvSpPr/>
          <p:nvPr/>
        </p:nvSpPr>
        <p:spPr>
          <a:xfrm>
            <a:off x="6462720" y="1619640"/>
            <a:ext cx="4956840" cy="25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Distinguishable: MLM Moderator (script 04)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library(lme4); library(lmerTest)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load("dyad_data.RData")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Baseline (no interactions)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m_base &lt;- lmer(sat ~ wnc + partner_wnc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rec + p_rec + child + dual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(1 | dyad), data=ddl)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Full APIM with gender interactions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m_mod  &lt;- lmer(sat ~ wnc*gender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partner_wnc*gender + rec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p_rec + child + dual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(1 | dyad), data=ddl)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summary(m_mod)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anova(m_base, m_mod)  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lideIndicator597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18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lideIndicatorTop598"/>
          <p:cNvSpPr/>
          <p:nvPr/>
        </p:nvSpPr>
        <p:spPr>
          <a:xfrm>
            <a:off x="10639440" y="428760"/>
            <a:ext cx="979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18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599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Google Shape;601;p30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Google Shape;602;p30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Google Shape;603;p30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19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Google Shape;604;p30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Google Shape;605;p30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Google Shape;606;p30"/>
          <p:cNvSpPr/>
          <p:nvPr/>
        </p:nvSpPr>
        <p:spPr>
          <a:xfrm>
            <a:off x="571680" y="428760"/>
            <a:ext cx="4570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607;p30"/>
          <p:cNvSpPr/>
          <p:nvPr/>
        </p:nvSpPr>
        <p:spPr>
          <a:xfrm>
            <a:off x="571680" y="619200"/>
            <a:ext cx="479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Hands-On: Moderator APIM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608;p30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Active Coding Session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609;p30"/>
          <p:cNvSpPr/>
          <p:nvPr/>
        </p:nvSpPr>
        <p:spPr>
          <a:xfrm>
            <a:off x="809640" y="1998360"/>
            <a:ext cx="4880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Let's practice modeling interaction terms in distinguishable dyads: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610;p30"/>
          <p:cNvSpPr/>
          <p:nvPr/>
        </p:nvSpPr>
        <p:spPr>
          <a:xfrm>
            <a:off x="681516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D9488"/>
                </a:solidFill>
                <a:effectLst/>
                <a:uFillTx/>
                <a:latin typeface="Inter"/>
                <a:ea typeface="Inter"/>
              </a:rPr>
              <a:t>Theoretical RQ Example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Google Shape;611;p30"/>
          <p:cNvSpPr/>
          <p:nvPr/>
        </p:nvSpPr>
        <p:spPr>
          <a:xfrm>
            <a:off x="6500880" y="1998360"/>
            <a:ext cx="4880520" cy="10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9000"/>
              </a:lnSpc>
              <a:tabLst>
                <a:tab pos="0" algn="l"/>
              </a:tabLst>
            </a:pPr>
            <a:r>
              <a:rPr lang="en-US" sz="128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"Does gender moderate the crossover of work-family connection between spouses, such that the crossover effect of partner connection on relationship satisfaction is stronger for females than for males?"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0" name="Google Shape;612;p30" descr="image.png"/>
          <p:cNvPicPr/>
          <p:nvPr/>
        </p:nvPicPr>
        <p:blipFill>
          <a:blip r:embed="rId6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Google Shape;613;p30"/>
          <p:cNvSpPr/>
          <p:nvPr/>
        </p:nvSpPr>
        <p:spPr>
          <a:xfrm>
            <a:off x="1076400" y="234108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Open: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scripts/04_distinguishable_mlm.R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614;p30"/>
          <p:cNvSpPr/>
          <p:nvPr/>
        </p:nvSpPr>
        <p:spPr>
          <a:xfrm>
            <a:off x="1076400" y="269856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Analyze: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Fit the full APIM moderator interaction model in R.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Google Shape;615;p30"/>
          <p:cNvSpPr/>
          <p:nvPr/>
        </p:nvSpPr>
        <p:spPr>
          <a:xfrm>
            <a:off x="1076400" y="3055680"/>
            <a:ext cx="461376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Evaluate: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Identify the interaction terms: wnc:genderfemale and partner_wnc:genderfemale. Calculate the simple slopes for males and females.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4" name="Google Shape;616;p30" descr="image.png"/>
          <p:cNvPicPr/>
          <p:nvPr/>
        </p:nvPicPr>
        <p:blipFill>
          <a:blip r:embed="rId7"/>
          <a:stretch/>
        </p:blipFill>
        <p:spPr>
          <a:xfrm>
            <a:off x="650088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Google Shape;617;p30" descr="image.png"/>
          <p:cNvPicPr/>
          <p:nvPr/>
        </p:nvPicPr>
        <p:blipFill>
          <a:blip r:embed="rId8"/>
          <a:stretch/>
        </p:blipFill>
        <p:spPr>
          <a:xfrm>
            <a:off x="6719760" y="3348360"/>
            <a:ext cx="1893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Google Shape;618;p30"/>
          <p:cNvSpPr/>
          <p:nvPr/>
        </p:nvSpPr>
        <p:spPr>
          <a:xfrm>
            <a:off x="7024680" y="3329280"/>
            <a:ext cx="413748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Are the simple slopes statistically significant for both males and females?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Google Shape;620;p30" descr="image.png"/>
          <p:cNvPicPr/>
          <p:nvPr/>
        </p:nvPicPr>
        <p:blipFill>
          <a:blip r:embed="rId9"/>
          <a:stretch/>
        </p:blipFill>
        <p:spPr>
          <a:xfrm>
            <a:off x="809640" y="23698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Google Shape;621;p30" descr="image.png"/>
          <p:cNvPicPr/>
          <p:nvPr/>
        </p:nvPicPr>
        <p:blipFill>
          <a:blip r:embed="rId10"/>
          <a:stretch/>
        </p:blipFill>
        <p:spPr>
          <a:xfrm>
            <a:off x="809640" y="27270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9" name="Google Shape;622;p30" descr="image.png"/>
          <p:cNvPicPr/>
          <p:nvPr/>
        </p:nvPicPr>
        <p:blipFill>
          <a:blip r:embed="rId11"/>
          <a:stretch/>
        </p:blipFill>
        <p:spPr>
          <a:xfrm>
            <a:off x="809640" y="30841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SlideIndicator62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19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lideIndicatorTop624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19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599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Google Shape;601;p30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Google Shape;602;p30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Google Shape;604;p30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Google Shape;605;p30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Google Shape;606;p30"/>
          <p:cNvSpPr/>
          <p:nvPr/>
        </p:nvSpPr>
        <p:spPr>
          <a:xfrm>
            <a:off x="571680" y="428760"/>
            <a:ext cx="4570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Google Shape;607;p30"/>
          <p:cNvSpPr/>
          <p:nvPr/>
        </p:nvSpPr>
        <p:spPr>
          <a:xfrm>
            <a:off x="571680" y="619200"/>
            <a:ext cx="64990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Distinguishable: SEM Moderator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Google Shape;608;p30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The Approach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Google Shape;609;p30"/>
          <p:cNvSpPr/>
          <p:nvPr/>
        </p:nvSpPr>
        <p:spPr>
          <a:xfrm>
            <a:off x="809640" y="1998360"/>
            <a:ext cx="4880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Mirror the lme4 gender moderator (script 04) as a two-level lavaan model. Gender interactions enter at the within-dyad level; dyad-level covariates (children, dual earner) at the between level.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1" name="Google Shape;612;p30" descr="image.png"/>
          <p:cNvPicPr/>
          <p:nvPr/>
        </p:nvPicPr>
        <p:blipFill>
          <a:blip r:embed="rId6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Google Shape;616;p30" descr="image.png"/>
          <p:cNvPicPr/>
          <p:nvPr/>
        </p:nvPicPr>
        <p:blipFill>
          <a:blip r:embed="rId7"/>
          <a:stretch/>
        </p:blipFill>
        <p:spPr>
          <a:xfrm>
            <a:off x="650088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Google Shape;617;p30" descr="image.png"/>
          <p:cNvPicPr/>
          <p:nvPr/>
        </p:nvPicPr>
        <p:blipFill>
          <a:blip r:embed="rId8"/>
          <a:stretch/>
        </p:blipFill>
        <p:spPr>
          <a:xfrm>
            <a:off x="6719760" y="3348360"/>
            <a:ext cx="1893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SlideIndicator624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20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ightCardTitle"/>
          <p:cNvSpPr/>
          <p:nvPr/>
        </p:nvSpPr>
        <p:spPr>
          <a:xfrm>
            <a:off x="6815160" y="1636200"/>
            <a:ext cx="4566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lavaan Model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ightCardBody"/>
          <p:cNvSpPr/>
          <p:nvPr/>
        </p:nvSpPr>
        <p:spPr>
          <a:xfrm>
            <a:off x="6500880" y="1998360"/>
            <a:ext cx="4880520" cy="10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Two-level SEM: gender interactions are placed at the within-dyad level. Numeric coding (1=male, 2=female) makes the simple-slope labels explicit: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ss_wnc_M  := a_w + aw_int * 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ss_wnc_F  := a_w + aw_int * 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ightCardTip"/>
          <p:cNvSpPr/>
          <p:nvPr/>
        </p:nvSpPr>
        <p:spPr>
          <a:xfrm>
            <a:off x="7024680" y="3329280"/>
            <a:ext cx="413748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45309"/>
                </a:solidFill>
                <a:effectLst/>
                <a:uFillTx/>
                <a:latin typeface="Inter"/>
                <a:ea typeface="Inter"/>
              </a:rPr>
              <a:t>Tip:</a:t>
            </a: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Models are saturated at the within level, so chi-square difference tests are not available. Use simple-slope labels (:=) to interpret the moderation.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lideIndicatorTop628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20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599;p3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Google Shape;601;p30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Google Shape;602;p30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28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Google Shape;603;p30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21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Google Shape;604;p30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4" name="Google Shape;605;p30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Google Shape;606;p30"/>
          <p:cNvSpPr/>
          <p:nvPr/>
        </p:nvSpPr>
        <p:spPr>
          <a:xfrm>
            <a:off x="571680" y="428760"/>
            <a:ext cx="4570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Google Shape;607;p30"/>
          <p:cNvSpPr/>
          <p:nvPr/>
        </p:nvSpPr>
        <p:spPr>
          <a:xfrm>
            <a:off x="571680" y="619200"/>
            <a:ext cx="479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 Code: SEM Moderator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608;p30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Two-Level SEM with Gender Moderation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Google Shape;609;p30"/>
          <p:cNvSpPr/>
          <p:nvPr/>
        </p:nvSpPr>
        <p:spPr>
          <a:xfrm>
            <a:off x="809640" y="1998360"/>
            <a:ext cx="4880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construct a two-level lavaan model that mirrors the lmer interaction (script 04):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9" name="Google Shape;612;p30" descr="image.png"/>
          <p:cNvPicPr/>
          <p:nvPr/>
        </p:nvPicPr>
        <p:blipFill>
          <a:blip r:embed="rId6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CodeAreaBg630"/>
          <p:cNvSpPr/>
          <p:nvPr/>
        </p:nvSpPr>
        <p:spPr>
          <a:xfrm>
            <a:off x="6262560" y="1369800"/>
            <a:ext cx="5356800" cy="48027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CodeBlock623"/>
          <p:cNvSpPr/>
          <p:nvPr/>
        </p:nvSpPr>
        <p:spPr>
          <a:xfrm>
            <a:off x="6412680" y="1469520"/>
            <a:ext cx="5056560" cy="46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SEM Moderator (script 05)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library(lavaan)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ddl$gender_num &lt;- as.numeric(ddl$gender)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ddl$wnc_x_g    &lt;- ddl$wnc * ddl$gender_num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ddl$pw_x_g     &lt;- ddl$partner_wnc * ddl$gender_num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mod &lt;- '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level: within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sat ~ a_w*wnc + p_w*partner_wnc +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ar_w*recovery + pr_w*partner_recovery +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g_w*gender_num +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aw_int*wnc_x_g + pw_int*pw_x_g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level: between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sat ~ c_ch*has_children + c_du*dual_earner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# Simple slopes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ss_wnc_M  := a_w + aw_int * 1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ss_wnc_F  := a_w + aw_int * 2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'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fit &lt;- sem(mod, data=ddl, cluster="dyad_id")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summary(fit)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lideIndicator624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21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lideIndicatorTop625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21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627;p3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Google Shape;629;p31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29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Google Shape;630;p31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22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7" name="Google Shape;631;p31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Google Shape;632;p31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Google Shape;633;p31"/>
          <p:cNvSpPr/>
          <p:nvPr/>
        </p:nvSpPr>
        <p:spPr>
          <a:xfrm>
            <a:off x="571680" y="428760"/>
            <a:ext cx="41709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634;p31"/>
          <p:cNvSpPr/>
          <p:nvPr/>
        </p:nvSpPr>
        <p:spPr>
          <a:xfrm>
            <a:off x="571680" y="619200"/>
            <a:ext cx="43794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The Two-Intercept Model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Google Shape;635;p31"/>
          <p:cNvSpPr/>
          <p:nvPr/>
        </p:nvSpPr>
        <p:spPr>
          <a:xfrm>
            <a:off x="571680" y="1369800"/>
            <a:ext cx="5356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To avoid setting an arbitrary reference group (like males), we can suppress the global intercept using the 0 + gender syntax.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636;p31"/>
          <p:cNvSpPr/>
          <p:nvPr/>
        </p:nvSpPr>
        <p:spPr>
          <a:xfrm>
            <a:off x="6767640" y="1636200"/>
            <a:ext cx="461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97706"/>
                </a:solidFill>
                <a:effectLst/>
                <a:uFillTx/>
                <a:latin typeface="Inter"/>
                <a:ea typeface="Inter"/>
              </a:rPr>
              <a:t>Three Modeling Stages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637;p31"/>
          <p:cNvSpPr/>
          <p:nvPr/>
        </p:nvSpPr>
        <p:spPr>
          <a:xfrm>
            <a:off x="6500880" y="1998360"/>
            <a:ext cx="488052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Compare these nested models using Likelihood Ratio Tests: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638;p31"/>
          <p:cNvSpPr/>
          <p:nvPr/>
        </p:nvSpPr>
        <p:spPr>
          <a:xfrm>
            <a:off x="838080" y="210888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Direct Parameterization: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Directly estimates intercepts and slopes for both males and females, simplifying group comparisons.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639;p31"/>
          <p:cNvSpPr/>
          <p:nvPr/>
        </p:nvSpPr>
        <p:spPr>
          <a:xfrm>
            <a:off x="838080" y="270900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Flexible Equality Constraints: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Easily constrain slopes to be equal across groups while still estimating separate intercepts.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6" name="Google Shape;640;p31" descr="image.png"/>
          <p:cNvPicPr/>
          <p:nvPr/>
        </p:nvPicPr>
        <p:blipFill>
          <a:blip r:embed="rId5"/>
          <a:stretch/>
        </p:blipFill>
        <p:spPr>
          <a:xfrm>
            <a:off x="6500880" y="16650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Google Shape;641;p31"/>
          <p:cNvSpPr/>
          <p:nvPr/>
        </p:nvSpPr>
        <p:spPr>
          <a:xfrm>
            <a:off x="6767640" y="227448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Model 1: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Equal intercepts, equal slopes (most constrained model).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642;p31"/>
          <p:cNvSpPr/>
          <p:nvPr/>
        </p:nvSpPr>
        <p:spPr>
          <a:xfrm>
            <a:off x="6767640" y="287460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Model 2: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Different intercepts, equal slopes (recommended baseline model).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643;p31"/>
          <p:cNvSpPr/>
          <p:nvPr/>
        </p:nvSpPr>
        <p:spPr>
          <a:xfrm>
            <a:off x="6767640" y="347472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Model 3: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Different intercepts, gender-varying slopes (full interaction model).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0" name="Google Shape;645;p31" descr="image.png"/>
          <p:cNvPicPr/>
          <p:nvPr/>
        </p:nvPicPr>
        <p:blipFill>
          <a:blip r:embed="rId6"/>
          <a:stretch/>
        </p:blipFill>
        <p:spPr>
          <a:xfrm>
            <a:off x="571680" y="21373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1" name="Google Shape;646;p31" descr="image.png"/>
          <p:cNvPicPr/>
          <p:nvPr/>
        </p:nvPicPr>
        <p:blipFill>
          <a:blip r:embed="rId7"/>
          <a:stretch/>
        </p:blipFill>
        <p:spPr>
          <a:xfrm>
            <a:off x="571680" y="27374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2" name="Google Shape;647;p31" descr="image.png"/>
          <p:cNvPicPr/>
          <p:nvPr/>
        </p:nvPicPr>
        <p:blipFill>
          <a:blip r:embed="rId8"/>
          <a:stretch/>
        </p:blipFill>
        <p:spPr>
          <a:xfrm>
            <a:off x="6500880" y="23032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3" name="Google Shape;648;p31" descr="image.png"/>
          <p:cNvPicPr/>
          <p:nvPr/>
        </p:nvPicPr>
        <p:blipFill>
          <a:blip r:embed="rId9"/>
          <a:stretch/>
        </p:blipFill>
        <p:spPr>
          <a:xfrm>
            <a:off x="6500880" y="29030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Google Shape;649;p31" descr="image.png"/>
          <p:cNvPicPr/>
          <p:nvPr/>
        </p:nvPicPr>
        <p:blipFill>
          <a:blip r:embed="rId10"/>
          <a:stretch/>
        </p:blipFill>
        <p:spPr>
          <a:xfrm>
            <a:off x="6500880" y="35031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SlideIndicator650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lideIndicatorTop651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654;p32" descr="image.png"/>
          <p:cNvPicPr/>
          <p:nvPr/>
        </p:nvPicPr>
        <p:blipFill>
          <a:blip r:embed="rId1"/>
          <a:stretch/>
        </p:blipFill>
        <p:spPr>
          <a:xfrm>
            <a:off x="48600" y="-19728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8" name="Google Shape;658;p32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9" name="Google Shape;659;p32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Google Shape;660;p32"/>
          <p:cNvSpPr/>
          <p:nvPr/>
        </p:nvSpPr>
        <p:spPr>
          <a:xfrm>
            <a:off x="571680" y="428760"/>
            <a:ext cx="45234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Google Shape;661;p32"/>
          <p:cNvSpPr/>
          <p:nvPr/>
        </p:nvSpPr>
        <p:spPr>
          <a:xfrm>
            <a:off x="571680" y="619200"/>
            <a:ext cx="4749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R Code: Two-Intercept MLM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Google Shape;662;p32"/>
          <p:cNvSpPr/>
          <p:nvPr/>
        </p:nvSpPr>
        <p:spPr>
          <a:xfrm>
            <a:off x="571680" y="1369800"/>
            <a:ext cx="5356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The two-intercept model is specified in lme4 by suppressing the global intercept (using 0 + gender) so each group gets its own intercept: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Google Shape;671;p32"/>
          <p:cNvSpPr/>
          <p:nvPr/>
        </p:nvSpPr>
        <p:spPr>
          <a:xfrm>
            <a:off x="838080" y="210888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Interpretable Outputs: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Coefficients are presented as separate intercepts (gendermale, genderfemale) rather than standard difference offsets.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Google Shape;672;p32"/>
          <p:cNvSpPr/>
          <p:nvPr/>
        </p:nvSpPr>
        <p:spPr>
          <a:xfrm>
            <a:off x="838080" y="295164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Nested Model Comparisons: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Compares nested model equations to identify distinct parameter slopes.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5" name="Google Shape;674;p32" descr="image.png"/>
          <p:cNvPicPr/>
          <p:nvPr/>
        </p:nvPicPr>
        <p:blipFill>
          <a:blip r:embed="rId4"/>
          <a:stretch/>
        </p:blipFill>
        <p:spPr>
          <a:xfrm>
            <a:off x="571680" y="21373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6" name="Google Shape;675;p32" descr="image.png"/>
          <p:cNvPicPr/>
          <p:nvPr/>
        </p:nvPicPr>
        <p:blipFill>
          <a:blip r:embed="rId5"/>
          <a:stretch/>
        </p:blipFill>
        <p:spPr>
          <a:xfrm>
            <a:off x="571680" y="29804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CodeAreaBg677"/>
          <p:cNvSpPr/>
          <p:nvPr/>
        </p:nvSpPr>
        <p:spPr>
          <a:xfrm>
            <a:off x="6262560" y="1369800"/>
            <a:ext cx="5356800" cy="2801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CodeBlock676"/>
          <p:cNvSpPr/>
          <p:nvPr/>
        </p:nvSpPr>
        <p:spPr>
          <a:xfrm>
            <a:off x="6462720" y="1619640"/>
            <a:ext cx="4956840" cy="24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Two-Intercept MLM (script 07)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library(lme4); library(lmerTest)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load("dyad_data.RData")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Equal slopes, separate intercepts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m2 &lt;- lmer(sat ~ 0 + gender + wnc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partner_wnc + rec + p_rec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child + dual_earner +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(1 | dyad), data=ddl)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summary(m2)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Coefficients: gendermale, genderfemale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are the two dyad-member intercepts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lideIndicator678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23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lideIndicatorTop679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23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680;p3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2" name="Google Shape;684;p33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3" name="Google Shape;685;p33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Google Shape;686;p33"/>
          <p:cNvSpPr/>
          <p:nvPr/>
        </p:nvSpPr>
        <p:spPr>
          <a:xfrm>
            <a:off x="571680" y="428760"/>
            <a:ext cx="50374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Google Shape;687;p33"/>
          <p:cNvSpPr/>
          <p:nvPr/>
        </p:nvSpPr>
        <p:spPr>
          <a:xfrm>
            <a:off x="571680" y="619200"/>
            <a:ext cx="5289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Distinguishable: SEM (lavaan)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Google Shape;688;p33"/>
          <p:cNvSpPr/>
          <p:nvPr/>
        </p:nvSpPr>
        <p:spPr>
          <a:xfrm>
            <a:off x="571680" y="1369800"/>
            <a:ext cx="53568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In structural equation modeling, distinguishable dyads are modeled using wide-format datasets. We can estimate separate slopes, variances, and covariances for each group without constraints: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Google Shape;696;p33"/>
          <p:cNvSpPr/>
          <p:nvPr/>
        </p:nvSpPr>
        <p:spPr>
          <a:xfrm>
            <a:off x="838080" y="265716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Unconstrained Baseline: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Establishes unique pathways (e.g. males: a_m, females: a_f).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Google Shape;697;p33"/>
          <p:cNvSpPr/>
          <p:nvPr/>
        </p:nvSpPr>
        <p:spPr>
          <a:xfrm>
            <a:off x="838080" y="325728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Nested Constraints: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Constrain slopes to be equal (e.g. a == a) to test for gender differences via a Chi-Square Difference Test.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9" name="Google Shape;699;p33" descr="image.png"/>
          <p:cNvPicPr/>
          <p:nvPr/>
        </p:nvPicPr>
        <p:blipFill>
          <a:blip r:embed="rId4"/>
          <a:stretch/>
        </p:blipFill>
        <p:spPr>
          <a:xfrm>
            <a:off x="571680" y="26859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Google Shape;700;p33" descr="image.png"/>
          <p:cNvPicPr/>
          <p:nvPr/>
        </p:nvPicPr>
        <p:blipFill>
          <a:blip r:embed="rId5"/>
          <a:stretch/>
        </p:blipFill>
        <p:spPr>
          <a:xfrm>
            <a:off x="571680" y="32860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CodeAreaBg702"/>
          <p:cNvSpPr/>
          <p:nvPr/>
        </p:nvSpPr>
        <p:spPr>
          <a:xfrm>
            <a:off x="6262560" y="1369800"/>
            <a:ext cx="5356800" cy="2801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CodeBlock701"/>
          <p:cNvSpPr/>
          <p:nvPr/>
        </p:nvSpPr>
        <p:spPr>
          <a:xfrm>
            <a:off x="6462720" y="1619640"/>
            <a:ext cx="4956840" cy="240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Distinguishable SEM wide (script 06)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library(lavaan)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Three nested models: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 1) Unconstrained  - all paths free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 2) Slopes equal   - labels a,p,...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#  3) Fully equal    - + equal intercepts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mod_un &lt;- '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sat_a ~ a_h*wnc_a + p_h*wnc_p + ...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sat_p ~ a_w*wnc_p + p_w*wnc_a + ...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sat_a ~ int_a*1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sat_p ~ int_p*1   # separate intercepts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'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fit_un &lt;- sem(mod_un, data=ddw)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lavTestLRT(fit_un, fit_slopes,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fit_full)  # nested LRTs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lideIndicator70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24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lideIndicatorTop704"/>
          <p:cNvSpPr/>
          <p:nvPr/>
        </p:nvSpPr>
        <p:spPr>
          <a:xfrm>
            <a:off x="10630080" y="428760"/>
            <a:ext cx="989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24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705;p3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Google Shape;707;p34" descr="image.png"/>
          <p:cNvPicPr/>
          <p:nvPr/>
        </p:nvPicPr>
        <p:blipFill>
          <a:blip r:embed="rId2"/>
          <a:stretch/>
        </p:blipFill>
        <p:spPr>
          <a:xfrm>
            <a:off x="571680" y="1369800"/>
            <a:ext cx="5356800" cy="300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Google Shape;708;p34" descr="image.png"/>
          <p:cNvPicPr/>
          <p:nvPr/>
        </p:nvPicPr>
        <p:blipFill>
          <a:blip r:embed="rId3"/>
          <a:stretch/>
        </p:blipFill>
        <p:spPr>
          <a:xfrm>
            <a:off x="6262560" y="1369800"/>
            <a:ext cx="5356800" cy="300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Google Shape;709;p34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25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9" name="Google Shape;710;p34" descr="image.png"/>
          <p:cNvPicPr/>
          <p:nvPr/>
        </p:nvPicPr>
        <p:blipFill>
          <a:blip r:embed="rId4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0" name="Google Shape;711;p34" descr="image.png"/>
          <p:cNvPicPr/>
          <p:nvPr/>
        </p:nvPicPr>
        <p:blipFill>
          <a:blip r:embed="rId5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Google Shape;712;p34"/>
          <p:cNvSpPr/>
          <p:nvPr/>
        </p:nvSpPr>
        <p:spPr>
          <a:xfrm>
            <a:off x="571680" y="428760"/>
            <a:ext cx="5294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Google Shape;713;p34"/>
          <p:cNvSpPr/>
          <p:nvPr/>
        </p:nvSpPr>
        <p:spPr>
          <a:xfrm>
            <a:off x="571680" y="619200"/>
            <a:ext cx="5559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Hands-On: Distinguishable SEM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Google Shape;714;p34"/>
          <p:cNvSpPr/>
          <p:nvPr/>
        </p:nvSpPr>
        <p:spPr>
          <a:xfrm>
            <a:off x="1123920" y="1636200"/>
            <a:ext cx="4566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Active Coding Session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Google Shape;715;p34"/>
          <p:cNvSpPr/>
          <p:nvPr/>
        </p:nvSpPr>
        <p:spPr>
          <a:xfrm>
            <a:off x="809640" y="1998360"/>
            <a:ext cx="4880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Let's practice setting constraints in structural equation models: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Google Shape;716;p34"/>
          <p:cNvSpPr/>
          <p:nvPr/>
        </p:nvSpPr>
        <p:spPr>
          <a:xfrm>
            <a:off x="6748560" y="1636200"/>
            <a:ext cx="4632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Core Modeling Decisions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Google Shape;717;p34"/>
          <p:cNvSpPr/>
          <p:nvPr/>
        </p:nvSpPr>
        <p:spPr>
          <a:xfrm>
            <a:off x="6500880" y="1998360"/>
            <a:ext cx="488052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9000"/>
              </a:lnSpc>
              <a:tabLst>
                <a:tab pos="0" algn="l"/>
              </a:tabLst>
            </a:pPr>
            <a:r>
              <a:rPr lang="en-US" sz="1280" b="0" i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"If the Chi-Square Difference Test is non-significant, adopt the constrained model for parsimony. If significant, retain the unconstrained model to allow for gender differences."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7" name="Google Shape;718;p34" descr="image.png"/>
          <p:cNvPicPr/>
          <p:nvPr/>
        </p:nvPicPr>
        <p:blipFill>
          <a:blip r:embed="rId6"/>
          <a:stretch/>
        </p:blipFill>
        <p:spPr>
          <a:xfrm>
            <a:off x="809640" y="1665000"/>
            <a:ext cx="218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Google Shape;719;p34"/>
          <p:cNvSpPr/>
          <p:nvPr/>
        </p:nvSpPr>
        <p:spPr>
          <a:xfrm>
            <a:off x="1076400" y="234108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Open: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scripts/06_distinguishable_sem_wide.R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Google Shape;720;p34"/>
          <p:cNvSpPr/>
          <p:nvPr/>
        </p:nvSpPr>
        <p:spPr>
          <a:xfrm>
            <a:off x="1076400" y="269856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Execute: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Fit the unconstrained, slopes-equal, and fully-equal (slopes + intercepts) models.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Google Shape;721;p34"/>
          <p:cNvSpPr/>
          <p:nvPr/>
        </p:nvSpPr>
        <p:spPr>
          <a:xfrm>
            <a:off x="1076400" y="3298320"/>
            <a:ext cx="461376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Compare: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Run Chi-Square Difference Tests comparing the three models to determine if constraining male and female slopes to be equal significantly worsens model fit.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1" name="Google Shape;722;p34" descr="image.png"/>
          <p:cNvPicPr/>
          <p:nvPr/>
        </p:nvPicPr>
        <p:blipFill>
          <a:blip r:embed="rId7"/>
          <a:stretch/>
        </p:blipFill>
        <p:spPr>
          <a:xfrm>
            <a:off x="6500880" y="1665000"/>
            <a:ext cx="15120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2" name="Google Shape;723;p34" descr="image.png"/>
          <p:cNvPicPr/>
          <p:nvPr/>
        </p:nvPicPr>
        <p:blipFill>
          <a:blip r:embed="rId8"/>
          <a:stretch/>
        </p:blipFill>
        <p:spPr>
          <a:xfrm>
            <a:off x="6719760" y="3765240"/>
            <a:ext cx="14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Google Shape;724;p34"/>
          <p:cNvSpPr/>
          <p:nvPr/>
        </p:nvSpPr>
        <p:spPr>
          <a:xfrm>
            <a:off x="6977160" y="3746160"/>
            <a:ext cx="24753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Does model fit change significantly?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4" name="Google Shape;726;p34" descr="image.png"/>
          <p:cNvPicPr/>
          <p:nvPr/>
        </p:nvPicPr>
        <p:blipFill>
          <a:blip r:embed="rId9"/>
          <a:stretch/>
        </p:blipFill>
        <p:spPr>
          <a:xfrm>
            <a:off x="809640" y="23698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5" name="Google Shape;727;p34" descr="image.png"/>
          <p:cNvPicPr/>
          <p:nvPr/>
        </p:nvPicPr>
        <p:blipFill>
          <a:blip r:embed="rId10"/>
          <a:stretch/>
        </p:blipFill>
        <p:spPr>
          <a:xfrm>
            <a:off x="809640" y="27270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6" name="Google Shape;728;p34" descr="image.png"/>
          <p:cNvPicPr/>
          <p:nvPr/>
        </p:nvPicPr>
        <p:blipFill>
          <a:blip r:embed="rId11"/>
          <a:stretch/>
        </p:blipFill>
        <p:spPr>
          <a:xfrm>
            <a:off x="809640" y="33271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SlideIndicator729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25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lideIndicatorTop730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25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733;p3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Google Shape;735;p35" descr="image.png"/>
          <p:cNvPicPr/>
          <p:nvPr/>
        </p:nvPicPr>
        <p:blipFill>
          <a:blip r:embed="rId2"/>
          <a:stretch/>
        </p:blipFill>
        <p:spPr>
          <a:xfrm>
            <a:off x="571680" y="1834560"/>
            <a:ext cx="11048040" cy="459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Google Shape;736;p35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26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2" name="Google Shape;737;p35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3" name="Google Shape;738;p35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Google Shape;739;p35"/>
          <p:cNvSpPr/>
          <p:nvPr/>
        </p:nvSpPr>
        <p:spPr>
          <a:xfrm>
            <a:off x="571680" y="1369800"/>
            <a:ext cx="1104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Compare the three primary structural modeling methods used for distinguishable dyad analyses: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Google Shape;740;p35"/>
          <p:cNvSpPr/>
          <p:nvPr/>
        </p:nvSpPr>
        <p:spPr>
          <a:xfrm>
            <a:off x="571680" y="428760"/>
            <a:ext cx="60091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4F46E5"/>
                </a:solidFill>
                <a:effectLst/>
                <a:uFillTx/>
                <a:latin typeface="Inter"/>
                <a:ea typeface="Inter"/>
              </a:rPr>
              <a:t>EAOHP 2026 WORKSHOP • DISTINGUISHABLE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Google Shape;741;p35"/>
          <p:cNvSpPr/>
          <p:nvPr/>
        </p:nvSpPr>
        <p:spPr>
          <a:xfrm>
            <a:off x="571680" y="619200"/>
            <a:ext cx="63097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Distinguishable: Model Comparison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7" name="Google Shape;742;p35"/>
          <p:cNvGraphicFramePr/>
          <p:nvPr/>
        </p:nvGraphicFramePr>
        <p:xfrm>
          <a:off x="581040" y="1843920"/>
          <a:ext cx="11028960" cy="3036600"/>
        </p:xfrm>
        <a:graphic>
          <a:graphicData uri="http://schemas.openxmlformats.org/drawingml/2006/table">
            <a:tbl>
              <a:tblPr/>
              <a:tblGrid>
                <a:gridCol w="2356920"/>
                <a:gridCol w="3279960"/>
                <a:gridCol w="2634840"/>
                <a:gridCol w="2757600"/>
              </a:tblGrid>
              <a:tr h="433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Feature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Moderator Approach (lme4)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Two-Intercept (lme4)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 SemiBold"/>
                          <a:ea typeface="Inter SemiBold"/>
                        </a:rPr>
                        <a:t>SEM Approach (lavaan)</a:t>
                      </a:r>
                      <a:endParaRPr lang="en-GB" sz="9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33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Data Format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Long Format (One row/person)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Long Format (One row/person)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Wide Format (One row/dyad)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33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Intercepts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Reference Group + Offset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Two Direct Intercepts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Two Direct Intercepts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3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Testing Slope Differences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Via Interaction Significance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Via Likelihood Ratio Test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Via Chi-Square Difference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33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Fit Indices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No (relies on log-likelihood)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No (relies on log-likelihood)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Yes (CFI, RMSEA, AIC/BIC)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33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Missing Data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Listwise Deletion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Listwise Deletion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FIML (retains partial dyads)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3380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Best Application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Testing external continuous moderators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Direct means comparisons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Complex mediation &amp; latent vars</a:t>
                      </a:r>
                      <a:endParaRPr lang="en-GB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88" name="SlideIndicator74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26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lideIndicatorTop744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26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768;p3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Google Shape;771;p36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27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Google Shape;772;p36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Google Shape;773;p36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Google Shape;774;p36"/>
          <p:cNvSpPr/>
          <p:nvPr/>
        </p:nvSpPr>
        <p:spPr>
          <a:xfrm>
            <a:off x="571680" y="428760"/>
            <a:ext cx="3665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EAOHP 2026 WORKSHOP • MODERATED APIM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Google Shape;775;p36"/>
          <p:cNvSpPr/>
          <p:nvPr/>
        </p:nvSpPr>
        <p:spPr>
          <a:xfrm>
            <a:off x="571680" y="619200"/>
            <a:ext cx="38494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The Buffer Hypothesis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Google Shape;776;p36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replicate the theoretical model of **Hahn, Binnewies, &amp; Dormann (2014)** to examine if dyad-level moderators alter standard APIM pathways: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Google Shape;777;p36"/>
          <p:cNvSpPr/>
          <p:nvPr/>
        </p:nvSpPr>
        <p:spPr>
          <a:xfrm>
            <a:off x="6767640" y="1636200"/>
            <a:ext cx="4613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Moderated APIM Structure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Google Shape;778;p36"/>
          <p:cNvSpPr/>
          <p:nvPr/>
        </p:nvSpPr>
        <p:spPr>
          <a:xfrm>
            <a:off x="6500880" y="1998360"/>
            <a:ext cx="488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The model includes interaction terms between the **Partner Connection** predictor and the **Has Children** indicator.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Google Shape;779;p36"/>
          <p:cNvSpPr/>
          <p:nvPr/>
        </p:nvSpPr>
        <p:spPr>
          <a:xfrm>
            <a:off x="838080" y="238320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Research Question: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Does the presence of children moderate the partner crossover effect (Partner Connection → Own Satisfaction)?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Google Shape;780;p36"/>
          <p:cNvSpPr/>
          <p:nvPr/>
        </p:nvSpPr>
        <p:spPr>
          <a:xfrm>
            <a:off x="838080" y="322596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Theoretical Mechanism: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Partner crossover represents stress transmission. Joint domestic demands (e.g. child-rearing) may alter these crossover pathways.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Google Shape;781;p36"/>
          <p:cNvSpPr/>
          <p:nvPr/>
        </p:nvSpPr>
        <p:spPr>
          <a:xfrm>
            <a:off x="838080" y="406908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Findings: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The crossover effect is buffered (weaker) for couples with children, as shared family responsibilities alter cognitive work-life boundaries.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2" name="Google Shape;782;p36" descr="image.png"/>
          <p:cNvPicPr/>
          <p:nvPr/>
        </p:nvPicPr>
        <p:blipFill>
          <a:blip r:embed="rId4"/>
          <a:stretch/>
        </p:blipFill>
        <p:spPr>
          <a:xfrm>
            <a:off x="6500880" y="1665000"/>
            <a:ext cx="170280" cy="1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3" name="Google Shape;783;p36" descr="image.png"/>
          <p:cNvPicPr/>
          <p:nvPr/>
        </p:nvPicPr>
        <p:blipFill>
          <a:blip r:embed="rId5"/>
          <a:stretch/>
        </p:blipFill>
        <p:spPr>
          <a:xfrm>
            <a:off x="6719760" y="4159440"/>
            <a:ext cx="752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Google Shape;784;p36"/>
          <p:cNvSpPr/>
          <p:nvPr/>
        </p:nvSpPr>
        <p:spPr>
          <a:xfrm>
            <a:off x="6910560" y="4140360"/>
            <a:ext cx="425196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Both MLM and SEM frameworks can accommodate dyad-level moderators.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5" name="Google Shape;786;p36" descr="image.png"/>
          <p:cNvPicPr/>
          <p:nvPr/>
        </p:nvPicPr>
        <p:blipFill>
          <a:blip r:embed="rId6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6" name="Google Shape;787;p36" descr="image.png"/>
          <p:cNvPicPr/>
          <p:nvPr/>
        </p:nvPicPr>
        <p:blipFill>
          <a:blip r:embed="rId7"/>
          <a:stretch/>
        </p:blipFill>
        <p:spPr>
          <a:xfrm>
            <a:off x="571680" y="32544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7" name="Google Shape;788;p36" descr="image.png"/>
          <p:cNvPicPr/>
          <p:nvPr/>
        </p:nvPicPr>
        <p:blipFill>
          <a:blip r:embed="rId8"/>
          <a:stretch/>
        </p:blipFill>
        <p:spPr>
          <a:xfrm>
            <a:off x="571680" y="40975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SlideIndicator790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27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lideIndicatorTop791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27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793;p3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1" name="Google Shape;795;p37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360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CodeAreaBg"/>
          <p:cNvSpPr/>
          <p:nvPr/>
        </p:nvSpPr>
        <p:spPr>
          <a:xfrm>
            <a:off x="6262560" y="1369800"/>
            <a:ext cx="5356800" cy="4498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CodeBlock"/>
          <p:cNvSpPr/>
          <p:nvPr/>
        </p:nvSpPr>
        <p:spPr>
          <a:xfrm>
            <a:off x="6412680" y="1469520"/>
            <a:ext cx="5056560" cy="42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Fira Code"/>
                <a:ea typeface="Fira Code"/>
              </a:rPr>
              <a:t># Moderated APIM, MLM (script 08)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library(lme4); library(lmerTest); library(interactions)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m_mod &lt;- lmer(satisfaction ~ wnc + partner_wnc +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 has_children +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 wnc:has_children + partner_wnc:has_children +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              (1 | dyad_id), data = ddl)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interact_plot(m_mod, pred = partner_wnc, modx = has_children)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59E0B"/>
                </a:solidFill>
                <a:effectLst/>
                <a:uFillTx/>
                <a:latin typeface="Fira Code"/>
                <a:ea typeface="Fira Code"/>
              </a:rPr>
              <a:t># *** SEM: lavaan ***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64748B"/>
                </a:solidFill>
                <a:effectLst/>
                <a:uFillTx/>
                <a:latin typeface="Fira Code"/>
                <a:ea typeface="Fira Code"/>
              </a:rPr>
              <a:t># SEM Approach: lavaan (script 08)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ddw$wnc_a_children &lt;- ddw$wnc_a * ddw$has_children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ddw$wnc_p_children &lt;- ddw$wnc_p * ddw$has_children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mod &lt;- '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sat_a ~ a*wnc_a + p*wnc_p + a_int*wnc_a_children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sat_p ~ a*wnc_p + p*wnc_a + p_int*wnc_p_children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actor_no_child  := a + a_int * 0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 actor_has_child := a + a_int * 1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'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 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fit &lt;- sem(mod, data = ddw)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BD5E1"/>
                </a:solidFill>
                <a:effectLst/>
                <a:uFillTx/>
                <a:latin typeface="Fira Code"/>
                <a:ea typeface="Fira Code"/>
              </a:rPr>
              <a:t>summary(fit)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Google Shape;796;p37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28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5" name="Google Shape;797;p37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6" name="Google Shape;798;p37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7" name="Google Shape;799;p37"/>
          <p:cNvSpPr/>
          <p:nvPr/>
        </p:nvSpPr>
        <p:spPr>
          <a:xfrm>
            <a:off x="571680" y="428760"/>
            <a:ext cx="52282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EAOHP 2026 WORKSHOP • MODERATED APIM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Google Shape;800;p37"/>
          <p:cNvSpPr/>
          <p:nvPr/>
        </p:nvSpPr>
        <p:spPr>
          <a:xfrm>
            <a:off x="571680" y="619200"/>
            <a:ext cx="54896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Multilevel vs. SEM Formulations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Google Shape;801;p37"/>
          <p:cNvSpPr/>
          <p:nvPr/>
        </p:nvSpPr>
        <p:spPr>
          <a:xfrm>
            <a:off x="571680" y="1369800"/>
            <a:ext cx="5356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estimate the interaction using either lme4 or lavaan: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811;p37"/>
          <p:cNvSpPr/>
          <p:nvPr/>
        </p:nvSpPr>
        <p:spPr>
          <a:xfrm>
            <a:off x="838080" y="183456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lme4 Interaction: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</a:t>
            </a:r>
            <a:br>
              <a:rPr sz="1800"/>
            </a:b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wnc * has_children + partner_wnc * has_children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Google Shape;812;p37"/>
          <p:cNvSpPr/>
          <p:nvPr/>
        </p:nvSpPr>
        <p:spPr>
          <a:xfrm>
            <a:off x="838080" y="243468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lavaan Interaction: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Requires creating manual product indicators for the interactions in wide format before fitting.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2" name="Google Shape;813;p37" descr="image.png"/>
          <p:cNvPicPr/>
          <p:nvPr/>
        </p:nvPicPr>
        <p:blipFill>
          <a:blip r:embed="rId5"/>
          <a:stretch/>
        </p:blipFill>
        <p:spPr>
          <a:xfrm>
            <a:off x="790560" y="3263040"/>
            <a:ext cx="23688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Google Shape;814;p37"/>
          <p:cNvSpPr/>
          <p:nvPr/>
        </p:nvSpPr>
        <p:spPr>
          <a:xfrm>
            <a:off x="1143000" y="3244320"/>
            <a:ext cx="45662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Open:</a:t>
            </a: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 scripts/08_moderated_apim.R. Run the script and plot the interaction slopes.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4" name="Google Shape;816;p37" descr="image.png"/>
          <p:cNvPicPr/>
          <p:nvPr/>
        </p:nvPicPr>
        <p:blipFill>
          <a:blip r:embed="rId6"/>
          <a:stretch/>
        </p:blipFill>
        <p:spPr>
          <a:xfrm>
            <a:off x="571680" y="18630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Google Shape;817;p37" descr="image.png"/>
          <p:cNvPicPr/>
          <p:nvPr/>
        </p:nvPicPr>
        <p:blipFill>
          <a:blip r:embed="rId7"/>
          <a:stretch/>
        </p:blipFill>
        <p:spPr>
          <a:xfrm>
            <a:off x="571680" y="24631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SlideIndicator818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28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lideIndicatorTop819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28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822;p38" descr="image.png"/>
          <p:cNvPicPr/>
          <p:nvPr/>
        </p:nvPicPr>
        <p:blipFill>
          <a:blip r:embed="rId1"/>
          <a:stretch/>
        </p:blipFill>
        <p:spPr>
          <a:xfrm>
            <a:off x="180000" y="16236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9" name="Google Shape;824;p38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30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Google Shape;825;p38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29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1" name="Google Shape;826;p38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Google Shape;827;p38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Google Shape;828;p38"/>
          <p:cNvSpPr/>
          <p:nvPr/>
        </p:nvSpPr>
        <p:spPr>
          <a:xfrm>
            <a:off x="571680" y="428760"/>
            <a:ext cx="53139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EAOHP 2026 WORKSHOP • ADVANCED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Google Shape;829;p38"/>
          <p:cNvSpPr/>
          <p:nvPr/>
        </p:nvSpPr>
        <p:spPr>
          <a:xfrm>
            <a:off x="571680" y="619200"/>
            <a:ext cx="55796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Advanced: APIM Power Analysis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Google Shape;830;p38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Dyadic power analysis is complex because power is a function of the **Intra-class Correlation (ICC)**, effect size, and the number of dyads (not individuals).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Google Shape;831;p38"/>
          <p:cNvSpPr/>
          <p:nvPr/>
        </p:nvSpPr>
        <p:spPr>
          <a:xfrm>
            <a:off x="6729480" y="1636200"/>
            <a:ext cx="4651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Sample Requirements Metric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832;p38"/>
          <p:cNvSpPr/>
          <p:nvPr/>
        </p:nvSpPr>
        <p:spPr>
          <a:xfrm>
            <a:off x="6500880" y="1998360"/>
            <a:ext cx="4880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α = 0.05, power = 0.80 — required N (dyads):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Google Shape;833;p38"/>
          <p:cNvSpPr/>
          <p:nvPr/>
        </p:nvSpPr>
        <p:spPr>
          <a:xfrm>
            <a:off x="838080" y="238320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Basic APIM: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Requires a minimum of 50 dyads; N = 100-120 dyads is preferred.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834;p38"/>
          <p:cNvSpPr/>
          <p:nvPr/>
        </p:nvSpPr>
        <p:spPr>
          <a:xfrm>
            <a:off x="838080" y="298296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Partner Effects: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Require larger samples than actor effects due to shared variance.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Google Shape;835;p38"/>
          <p:cNvSpPr/>
          <p:nvPr/>
        </p:nvSpPr>
        <p:spPr>
          <a:xfrm>
            <a:off x="838080" y="358308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Moderation: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Cross-level interactions typically require N &gt; 150 dyads.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1" name="Google Shape;840;p38" descr="image.png"/>
          <p:cNvPicPr/>
          <p:nvPr/>
        </p:nvPicPr>
        <p:blipFill>
          <a:blip r:embed="rId5"/>
          <a:stretch/>
        </p:blipFill>
        <p:spPr>
          <a:xfrm>
            <a:off x="6653160" y="3830040"/>
            <a:ext cx="189360" cy="1893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642" name="PowerTable"/>
          <p:cNvGraphicFramePr/>
          <p:nvPr/>
        </p:nvGraphicFramePr>
        <p:xfrm>
          <a:off x="6750000" y="2350080"/>
          <a:ext cx="4398840" cy="991800"/>
        </p:xfrm>
        <a:graphic>
          <a:graphicData uri="http://schemas.openxmlformats.org/drawingml/2006/table">
            <a:tbl>
              <a:tblPr/>
              <a:tblGrid>
                <a:gridCol w="2299680"/>
                <a:gridCol w="1049760"/>
                <a:gridCol w="1049760"/>
              </a:tblGrid>
              <a:tr h="259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Effect size (β)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E123C"/>
                      </a:solidFill>
                      <a:prstDash val="solid"/>
                    </a:lnL>
                    <a:lnR w="6480">
                      <a:solidFill>
                        <a:srgbClr val="BE123C"/>
                      </a:solidFill>
                      <a:prstDash val="solid"/>
                    </a:lnR>
                    <a:lnT w="6480">
                      <a:solidFill>
                        <a:srgbClr val="BE123C"/>
                      </a:solidFill>
                      <a:prstDash val="solid"/>
                    </a:lnT>
                    <a:lnB w="6480">
                      <a:solidFill>
                        <a:srgbClr val="BE123C"/>
                      </a:solidFill>
                      <a:prstDash val="soli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β = .15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E123C"/>
                      </a:solidFill>
                      <a:prstDash val="solid"/>
                    </a:lnL>
                    <a:lnR w="6480">
                      <a:solidFill>
                        <a:srgbClr val="BE123C"/>
                      </a:solidFill>
                      <a:prstDash val="solid"/>
                    </a:lnR>
                    <a:lnT w="6480">
                      <a:solidFill>
                        <a:srgbClr val="BE123C"/>
                      </a:solidFill>
                      <a:prstDash val="solid"/>
                    </a:lnT>
                    <a:lnB w="6480">
                      <a:solidFill>
                        <a:srgbClr val="BE123C"/>
                      </a:solidFill>
                      <a:prstDash val="soli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β = .25</a:t>
                      </a:r>
                      <a:endParaRPr lang="en-GB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E123C"/>
                      </a:solidFill>
                      <a:prstDash val="solid"/>
                    </a:lnL>
                    <a:lnR w="6480">
                      <a:solidFill>
                        <a:srgbClr val="BE123C"/>
                      </a:solidFill>
                      <a:prstDash val="solid"/>
                    </a:lnR>
                    <a:lnT w="6480">
                      <a:solidFill>
                        <a:srgbClr val="BE123C"/>
                      </a:solidFill>
                      <a:prstDash val="solid"/>
                    </a:lnT>
                    <a:lnB w="6480">
                      <a:solidFill>
                        <a:srgbClr val="BE123C"/>
                      </a:solidFill>
                      <a:prstDash val="solid"/>
                    </a:lnB>
                    <a:solidFill>
                      <a:srgbClr val="BE123C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Indistinguishable</a:t>
                      </a: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 dyads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BE123C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BE123C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159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BE123C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BE123C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59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BE123C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Distinguishable</a:t>
                      </a: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 dyads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BE123C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348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BE123C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129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3" name="Google Shape;841;p38"/>
          <p:cNvSpPr/>
          <p:nvPr/>
        </p:nvSpPr>
        <p:spPr>
          <a:xfrm>
            <a:off x="6958440" y="3600000"/>
            <a:ext cx="4921200" cy="5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Estimated with APIMPowerR: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0369A1"/>
                </a:solidFill>
                <a:effectLst/>
                <a:uFillTx/>
                <a:latin typeface="Inter"/>
                <a:ea typeface="Inter"/>
              </a:rPr>
              <a:t>https://robert-a-ackerman.shinyapps.io/APIMPowerRdis/</a:t>
            </a:r>
            <a:endParaRPr lang="en-GB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4" name="Google Shape;843;p38" descr="image.png"/>
          <p:cNvPicPr/>
          <p:nvPr/>
        </p:nvPicPr>
        <p:blipFill>
          <a:blip r:embed="rId6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5" name="Google Shape;844;p38" descr="image.png"/>
          <p:cNvPicPr/>
          <p:nvPr/>
        </p:nvPicPr>
        <p:blipFill>
          <a:blip r:embed="rId7"/>
          <a:stretch/>
        </p:blipFill>
        <p:spPr>
          <a:xfrm>
            <a:off x="571680" y="30117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6" name="Google Shape;845;p38" descr="image.png"/>
          <p:cNvPicPr/>
          <p:nvPr/>
        </p:nvPicPr>
        <p:blipFill>
          <a:blip r:embed="rId8"/>
          <a:stretch/>
        </p:blipFill>
        <p:spPr>
          <a:xfrm>
            <a:off x="571680" y="36118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7" name="SlideIndicator849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29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lideIndicatorTop850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29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853;p3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0" name="Google Shape;855;p39" descr="image.png"/>
          <p:cNvPicPr/>
          <p:nvPr/>
        </p:nvPicPr>
        <p:blipFill>
          <a:blip r:embed="rId2"/>
          <a:stretch/>
        </p:blipFill>
        <p:spPr>
          <a:xfrm>
            <a:off x="6262560" y="1369800"/>
            <a:ext cx="5356800" cy="290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Google Shape;856;p39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30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2" name="Google Shape;857;p39" descr="image.png"/>
          <p:cNvPicPr/>
          <p:nvPr/>
        </p:nvPicPr>
        <p:blipFill>
          <a:blip r:embed="rId3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3" name="Google Shape;858;p39" descr="image.png"/>
          <p:cNvPicPr/>
          <p:nvPr/>
        </p:nvPicPr>
        <p:blipFill>
          <a:blip r:embed="rId4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Google Shape;859;p39"/>
          <p:cNvSpPr/>
          <p:nvPr/>
        </p:nvSpPr>
        <p:spPr>
          <a:xfrm>
            <a:off x="571680" y="428760"/>
            <a:ext cx="51994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EAOHP 2026 WORKSHOP • ADVANCED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860;p39"/>
          <p:cNvSpPr/>
          <p:nvPr/>
        </p:nvSpPr>
        <p:spPr>
          <a:xfrm>
            <a:off x="571680" y="619200"/>
            <a:ext cx="54597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Three-Level Nesting Structures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861;p39"/>
          <p:cNvSpPr/>
          <p:nvPr/>
        </p:nvSpPr>
        <p:spPr>
          <a:xfrm>
            <a:off x="571680" y="1369800"/>
            <a:ext cx="53568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Dyads are often nested within larger clusters (e.g. organizations, departments, clinic teams), or measured over time: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862;p39"/>
          <p:cNvSpPr/>
          <p:nvPr/>
        </p:nvSpPr>
        <p:spPr>
          <a:xfrm>
            <a:off x="6748560" y="1636200"/>
            <a:ext cx="4632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E123C"/>
                </a:solidFill>
                <a:effectLst/>
                <a:uFillTx/>
                <a:latin typeface="Inter"/>
                <a:ea typeface="Inter"/>
              </a:rPr>
              <a:t>Bayesian Estimations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Google Shape;863;p39"/>
          <p:cNvSpPr/>
          <p:nvPr/>
        </p:nvSpPr>
        <p:spPr>
          <a:xfrm>
            <a:off x="6500880" y="1998360"/>
            <a:ext cx="4880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For small samples or complex models with multiple random slopes, Bayesian estimations provide stable parameter estimates: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864;p39"/>
          <p:cNvSpPr/>
          <p:nvPr/>
        </p:nvSpPr>
        <p:spPr>
          <a:xfrm>
            <a:off x="838080" y="210888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3-Level syntax in lme4: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</a:t>
            </a:r>
            <a:br>
              <a:rPr sz="1800"/>
            </a:b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satisfaction ~ wnc + (1 | team_id) + (1 | dyad_id)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Google Shape;865;p39"/>
          <p:cNvSpPr/>
          <p:nvPr/>
        </p:nvSpPr>
        <p:spPr>
          <a:xfrm>
            <a:off x="838080" y="2727720"/>
            <a:ext cx="509004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Daily Diary / ESM Designs: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Days nested within Persons, nested within Dyads.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1" name="Google Shape;866;p39" descr="image.png"/>
          <p:cNvPicPr/>
          <p:nvPr/>
        </p:nvPicPr>
        <p:blipFill>
          <a:blip r:embed="rId5"/>
          <a:stretch/>
        </p:blipFill>
        <p:spPr>
          <a:xfrm>
            <a:off x="6500880" y="1665000"/>
            <a:ext cx="15120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Google Shape;867;p39"/>
          <p:cNvSpPr/>
          <p:nvPr/>
        </p:nvSpPr>
        <p:spPr>
          <a:xfrm>
            <a:off x="6767640" y="256968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brms: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Stan-based package with intuitive, lme4-like syntax.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Google Shape;868;p39"/>
          <p:cNvSpPr/>
          <p:nvPr/>
        </p:nvSpPr>
        <p:spPr>
          <a:xfrm>
            <a:off x="6767640" y="2927160"/>
            <a:ext cx="461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blavaan: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Fits Bayesian SEM models.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Google Shape;869;p39"/>
          <p:cNvSpPr/>
          <p:nvPr/>
        </p:nvSpPr>
        <p:spPr>
          <a:xfrm>
            <a:off x="1247760" y="3242160"/>
            <a:ext cx="46803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Allows modeling of daily actor/partner lag fluctuations.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5" name="Google Shape;871;p39" descr="image.png"/>
          <p:cNvPicPr/>
          <p:nvPr/>
        </p:nvPicPr>
        <p:blipFill>
          <a:blip r:embed="rId6"/>
          <a:stretch/>
        </p:blipFill>
        <p:spPr>
          <a:xfrm>
            <a:off x="571680" y="213732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Google Shape;872;p39" descr="image.png"/>
          <p:cNvPicPr/>
          <p:nvPr/>
        </p:nvPicPr>
        <p:blipFill>
          <a:blip r:embed="rId7"/>
          <a:stretch/>
        </p:blipFill>
        <p:spPr>
          <a:xfrm>
            <a:off x="571680" y="27374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7" name="Google Shape;873;p39" descr="image.png"/>
          <p:cNvPicPr/>
          <p:nvPr/>
        </p:nvPicPr>
        <p:blipFill>
          <a:blip r:embed="rId8"/>
          <a:stretch/>
        </p:blipFill>
        <p:spPr>
          <a:xfrm>
            <a:off x="6500880" y="25984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Google Shape;874;p39" descr="image.png"/>
          <p:cNvPicPr/>
          <p:nvPr/>
        </p:nvPicPr>
        <p:blipFill>
          <a:blip r:embed="rId9"/>
          <a:stretch/>
        </p:blipFill>
        <p:spPr>
          <a:xfrm>
            <a:off x="6500880" y="29556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9" name="Google Shape;875;p39"/>
          <p:cNvSpPr/>
          <p:nvPr/>
        </p:nvSpPr>
        <p:spPr>
          <a:xfrm>
            <a:off x="1247760" y="3599280"/>
            <a:ext cx="46803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Time-lagged effects: Does yesterday's connection predict today's relationship satisfaction?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0" name="Google Shape;876;p39" descr="image.png"/>
          <p:cNvPicPr/>
          <p:nvPr/>
        </p:nvPicPr>
        <p:blipFill>
          <a:blip r:embed="rId10"/>
          <a:stretch/>
        </p:blipFill>
        <p:spPr>
          <a:xfrm>
            <a:off x="981000" y="32709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Google Shape;877;p39" descr="image.png"/>
          <p:cNvPicPr/>
          <p:nvPr/>
        </p:nvPicPr>
        <p:blipFill>
          <a:blip r:embed="rId11"/>
          <a:stretch/>
        </p:blipFill>
        <p:spPr>
          <a:xfrm>
            <a:off x="981000" y="362808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2" name="SlideIndicator878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30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lideIndicatorTop879"/>
          <p:cNvSpPr/>
          <p:nvPr/>
        </p:nvSpPr>
        <p:spPr>
          <a:xfrm>
            <a:off x="10611000" y="428760"/>
            <a:ext cx="10087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30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882;p4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Google Shape;885;p40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31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6" name="Google Shape;886;p40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7" name="Google Shape;887;p40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8" name="Google Shape;888;p40"/>
          <p:cNvSpPr/>
          <p:nvPr/>
        </p:nvSpPr>
        <p:spPr>
          <a:xfrm>
            <a:off x="571680" y="428760"/>
            <a:ext cx="523764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5803D"/>
                </a:solidFill>
                <a:effectLst/>
                <a:uFillTx/>
                <a:latin typeface="Inter"/>
                <a:ea typeface="Inter"/>
              </a:rPr>
              <a:t>EAOHP 2026 WORKSHOP • SUMMARY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Google Shape;889;p40"/>
          <p:cNvSpPr/>
          <p:nvPr/>
        </p:nvSpPr>
        <p:spPr>
          <a:xfrm>
            <a:off x="571680" y="619200"/>
            <a:ext cx="54997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Missing Data in Dyadic Designs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890;p40"/>
          <p:cNvSpPr/>
          <p:nvPr/>
        </p:nvSpPr>
        <p:spPr>
          <a:xfrm>
            <a:off x="571680" y="1369800"/>
            <a:ext cx="53568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If one partner has missing data, listwise deletion in standard regression removes the entire dyad. This significantly reduces statistical power: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Google Shape;891;p40"/>
          <p:cNvSpPr/>
          <p:nvPr/>
        </p:nvSpPr>
        <p:spPr>
          <a:xfrm>
            <a:off x="6786720" y="1747800"/>
            <a:ext cx="4594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5803D"/>
                </a:solidFill>
                <a:effectLst/>
                <a:uFillTx/>
                <a:latin typeface="Inter"/>
                <a:ea typeface="Inter"/>
              </a:rPr>
              <a:t>Analytical Decision Tree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Google Shape;892;p40"/>
          <p:cNvSpPr/>
          <p:nvPr/>
        </p:nvSpPr>
        <p:spPr>
          <a:xfrm>
            <a:off x="838080" y="2383200"/>
            <a:ext cx="50900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SEM FIML: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Full Information Maximum Likelihood estimates parameters using all available data under MAR assumptions. This is the preferred approach.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Google Shape;893;p40"/>
          <p:cNvSpPr/>
          <p:nvPr/>
        </p:nvSpPr>
        <p:spPr>
          <a:xfrm>
            <a:off x="838080" y="3225960"/>
            <a:ext cx="509004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Multiple Imputation: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Impute missing values at the dyad level using packages like mice to preserve dyadic dependencies.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4" name="Google Shape;894;p40" descr="image.png"/>
          <p:cNvPicPr/>
          <p:nvPr/>
        </p:nvPicPr>
        <p:blipFill>
          <a:blip r:embed="rId4"/>
          <a:stretch/>
        </p:blipFill>
        <p:spPr>
          <a:xfrm>
            <a:off x="6500880" y="1776240"/>
            <a:ext cx="1893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5" name="Google Shape;895;p40"/>
          <p:cNvSpPr/>
          <p:nvPr/>
        </p:nvSpPr>
        <p:spPr>
          <a:xfrm>
            <a:off x="6767640" y="2109600"/>
            <a:ext cx="461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Step 1: Test Distinguishability: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Compare constrained and unconstrained models via a Chi-Square Difference Test.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Google Shape;896;p40"/>
          <p:cNvSpPr/>
          <p:nvPr/>
        </p:nvSpPr>
        <p:spPr>
          <a:xfrm>
            <a:off x="6767640" y="2709720"/>
            <a:ext cx="461376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Step 2: Choose Your Framework: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Use MLM for longitudinal diary designs or complex random slopes. Use SEM for latent variables, fit indices, or complex mediation.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7" name="Google Shape;898;p40" descr="image.png"/>
          <p:cNvPicPr/>
          <p:nvPr/>
        </p:nvPicPr>
        <p:blipFill>
          <a:blip r:embed="rId5"/>
          <a:stretch/>
        </p:blipFill>
        <p:spPr>
          <a:xfrm>
            <a:off x="571680" y="24116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Google Shape;899;p40" descr="image.png"/>
          <p:cNvPicPr/>
          <p:nvPr/>
        </p:nvPicPr>
        <p:blipFill>
          <a:blip r:embed="rId6"/>
          <a:stretch/>
        </p:blipFill>
        <p:spPr>
          <a:xfrm>
            <a:off x="571680" y="325440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9" name="Google Shape;900;p40" descr="image.png"/>
          <p:cNvPicPr/>
          <p:nvPr/>
        </p:nvPicPr>
        <p:blipFill>
          <a:blip r:embed="rId7"/>
          <a:stretch/>
        </p:blipFill>
        <p:spPr>
          <a:xfrm>
            <a:off x="6500880" y="213804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Google Shape;901;p40" descr="image.png"/>
          <p:cNvPicPr/>
          <p:nvPr/>
        </p:nvPicPr>
        <p:blipFill>
          <a:blip r:embed="rId8"/>
          <a:stretch/>
        </p:blipFill>
        <p:spPr>
          <a:xfrm>
            <a:off x="6500880" y="2738160"/>
            <a:ext cx="113400" cy="1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1" name="SlideIndicator903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31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lideIndicatorTop904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31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906;p4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Google Shape;909;p41"/>
          <p:cNvSpPr/>
          <p:nvPr/>
        </p:nvSpPr>
        <p:spPr>
          <a:xfrm>
            <a:off x="10829880" y="6372360"/>
            <a:ext cx="646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Slide 32 / 32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5" name="Google Shape;910;p41" descr="image.png"/>
          <p:cNvPicPr/>
          <p:nvPr/>
        </p:nvPicPr>
        <p:blipFill>
          <a:blip r:embed="rId2"/>
          <a:stretch/>
        </p:blipFill>
        <p:spPr>
          <a:xfrm>
            <a:off x="105249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Google Shape;911;p41" descr="image.png"/>
          <p:cNvPicPr/>
          <p:nvPr/>
        </p:nvPicPr>
        <p:blipFill>
          <a:blip r:embed="rId3"/>
          <a:stretch/>
        </p:blipFill>
        <p:spPr>
          <a:xfrm>
            <a:off x="11630160" y="6372360"/>
            <a:ext cx="151200" cy="1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7" name="Google Shape;912;p41"/>
          <p:cNvSpPr/>
          <p:nvPr/>
        </p:nvSpPr>
        <p:spPr>
          <a:xfrm>
            <a:off x="571680" y="428760"/>
            <a:ext cx="39708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5803D"/>
                </a:solidFill>
                <a:effectLst/>
                <a:uFillTx/>
                <a:latin typeface="Inter"/>
                <a:ea typeface="Inter"/>
              </a:rPr>
              <a:t>EAOHP 2026 WORKSHOP • SUMMARY</a:t>
            </a:r>
            <a:endParaRPr lang="en-GB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Google Shape;913;p41"/>
          <p:cNvSpPr/>
          <p:nvPr/>
        </p:nvSpPr>
        <p:spPr>
          <a:xfrm>
            <a:off x="571680" y="619200"/>
            <a:ext cx="41695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  <a:ea typeface="Poppins"/>
              </a:rPr>
              <a:t>Questions &amp; Discussion</a:t>
            </a:r>
            <a:endParaRPr lang="en-GB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Google Shape;914;p41"/>
          <p:cNvSpPr/>
          <p:nvPr/>
        </p:nvSpPr>
        <p:spPr>
          <a:xfrm>
            <a:off x="571680" y="1699920"/>
            <a:ext cx="5624640" cy="5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15803D"/>
                </a:solidFill>
                <a:effectLst/>
                <a:uFillTx/>
                <a:latin typeface="Poppins SemiBold"/>
                <a:ea typeface="Poppins SemiBold"/>
              </a:rPr>
              <a:t>Thank You!</a:t>
            </a:r>
            <a:endParaRPr lang="en-GB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915;p41"/>
          <p:cNvSpPr/>
          <p:nvPr/>
        </p:nvSpPr>
        <p:spPr>
          <a:xfrm>
            <a:off x="571680" y="2300040"/>
            <a:ext cx="5356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We have successfully walked through the foundations, estimations, and advanced extensions of the Actor-Partner Interdependence Model (APIM) in R.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1" name="Google Shape;917;p41" descr="image.png"/>
          <p:cNvPicPr/>
          <p:nvPr/>
        </p:nvPicPr>
        <p:blipFill>
          <a:blip r:embed="rId4"/>
          <a:stretch/>
        </p:blipFill>
        <p:spPr>
          <a:xfrm>
            <a:off x="308880" y="3369960"/>
            <a:ext cx="2181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Google Shape;918;p41"/>
          <p:cNvSpPr/>
          <p:nvPr/>
        </p:nvSpPr>
        <p:spPr>
          <a:xfrm>
            <a:off x="571680" y="3300120"/>
            <a:ext cx="549972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5803D"/>
                </a:solidFill>
                <a:effectLst/>
                <a:uFillTx/>
                <a:latin typeface="Inter"/>
                <a:ea typeface="Inter"/>
              </a:rPr>
              <a:t>R Workspace Datasets &amp; Scripts:</a:t>
            </a:r>
            <a:r>
              <a:rPr lang="en-US" sz="1280" b="0" u="none" strike="noStrike">
                <a:solidFill>
                  <a:srgbClr val="15803D"/>
                </a:solidFill>
                <a:effectLst/>
                <a:uFillTx/>
                <a:latin typeface="Inter"/>
                <a:ea typeface="Inter"/>
              </a:rPr>
              <a:t> Check the local scripts/ directory to run exercises.</a:t>
            </a:r>
            <a:endParaRPr lang="en-GB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lideIndicator924"/>
          <p:cNvSpPr/>
          <p:nvPr/>
        </p:nvSpPr>
        <p:spPr>
          <a:xfrm>
            <a:off x="10306080" y="6229440"/>
            <a:ext cx="16945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lideIndicatorTop925"/>
          <p:cNvSpPr/>
          <p:nvPr/>
        </p:nvSpPr>
        <p:spPr>
          <a:xfrm>
            <a:off x="10601280" y="428760"/>
            <a:ext cx="101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Slide 32 / 32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LibreOffice/26.2.4.2$Linux_X86_64 LibreOffice_project/c44d3140fc62714965bf5d98735e0d79ba4b1ebd</Application>
  <AppVersion>15.0000</AppVersion>
  <Words>5055</Words>
  <Paragraphs>587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2026-06-07T14:50:03Z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Widescreen</vt:lpwstr>
  </property>
  <property fmtid="{D5CDD505-2E9C-101B-9397-08002B2CF9AE}" pid="4" name="Slides">
    <vt:i4>32</vt:i4>
  </property>
</Properties>
</file>