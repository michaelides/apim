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8" r:id="rId22"/>
    <p:sldId id="275" r:id="rId23"/>
    <p:sldId id="276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7559675" cy="10691813"/>
  <p:embeddedFontLst>
    <p:embeddedFont>
      <p:font typeface="Fira Code" panose="020B0809050000020004" pitchFamily="49" charset="0"/>
      <p:regular r:id="rId34"/>
      <p:bold r:id="rId34"/>
    </p:embeddedFont>
    <p:embeddedFont>
      <p:font typeface="Inter" panose="02000503000000020004" pitchFamily="2" charset="0"/>
      <p:regular r:id="rId35"/>
      <p:bold r:id="rId36"/>
      <p:italic r:id="rId37"/>
      <p:boldItalic r:id="rId35"/>
    </p:embeddedFont>
    <p:embeddedFont>
      <p:font typeface="Inter SemiBold" panose="02000503000000020004" pitchFamily="2" charset="0"/>
      <p:regular r:id="rId35"/>
      <p:bold r:id="rId36"/>
      <p:italic r:id="rId37"/>
      <p:boldItalic r:id="rId35"/>
    </p:embeddedFont>
    <p:embeddedFont>
      <p:font typeface="Poppins" pitchFamily="2" charset="77"/>
      <p:regular r:id="rId38"/>
      <p:bold r:id="rId39"/>
      <p:italic r:id="rId40"/>
      <p:boldItalic r:id="rId40"/>
    </p:embeddedFont>
    <p:embeddedFont>
      <p:font typeface="Poppins SemiBold" panose="00000700000000000000" pitchFamily="2" charset="77"/>
      <p:regular r:id="rId41"/>
      <p:bold r:id="rId42"/>
      <p:italic r:id="rId43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79"/>
    <p:restoredTop sz="94667"/>
  </p:normalViewPr>
  <p:slideViewPr>
    <p:cSldViewPr snapToGrid="0">
      <p:cViewPr varScale="1">
        <p:scale>
          <a:sx n="145" d="100"/>
          <a:sy n="145" d="100"/>
        </p:scale>
        <p:origin x="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5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808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556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808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556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328E36-6035-4841-9B79-FF030DD47739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556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301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556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301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301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44A46F-8F55-4512-8B94-090D51ECAA3B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1CBFEE-E933-4089-B104-8B892CFCD8C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D602CD-81AF-473F-8172-8D2DEA8B7CD1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JECT_WITH_CAPTION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3164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40644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808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556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556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556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556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E08FB7-7AE4-49C9-8DA6-8E6A7551C14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3A2932-C5F6-4E8A-A120-9515EB8F006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ERTICAL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 rot="5400000">
            <a:off x="2310120" y="-251640"/>
            <a:ext cx="4524840" cy="8228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2B8E6-13BA-42BB-AC71-7E8EBBA2CDE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 rot="5400000">
            <a:off x="4733280" y="2171520"/>
            <a:ext cx="5850360" cy="205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 rot="5400000">
            <a:off x="542520" y="189360"/>
            <a:ext cx="5850360" cy="601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64B841-4FB8-407F-8577-7077C7433ACE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6E9F96-DEEC-4AEA-B0F0-192240F06F14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DA8EFB-AC93-4879-B336-F4F64B06975E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625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7432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2004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4E37CB-735B-4BBC-9383-42D4AD5DEAE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12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5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11" Type="http://schemas.openxmlformats.org/officeDocument/2006/relationships/image" Target="../media/image46.png"/><Relationship Id="rId5" Type="http://schemas.openxmlformats.org/officeDocument/2006/relationships/image" Target="../media/image42.png"/><Relationship Id="rId10" Type="http://schemas.openxmlformats.org/officeDocument/2006/relationships/image" Target="../media/image5.png"/><Relationship Id="rId4" Type="http://schemas.openxmlformats.org/officeDocument/2006/relationships/image" Target="../media/image41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9.png"/><Relationship Id="rId7" Type="http://schemas.openxmlformats.org/officeDocument/2006/relationships/image" Target="../media/image5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50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5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3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8.png"/><Relationship Id="rId7" Type="http://schemas.openxmlformats.org/officeDocument/2006/relationships/image" Target="../media/image6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34.png"/><Relationship Id="rId4" Type="http://schemas.openxmlformats.org/officeDocument/2006/relationships/image" Target="../media/image59.png"/><Relationship Id="rId9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3.png"/><Relationship Id="rId7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11" Type="http://schemas.openxmlformats.org/officeDocument/2006/relationships/image" Target="../media/image34.png"/><Relationship Id="rId5" Type="http://schemas.openxmlformats.org/officeDocument/2006/relationships/image" Target="../media/image65.png"/><Relationship Id="rId10" Type="http://schemas.openxmlformats.org/officeDocument/2006/relationships/image" Target="../media/image68.png"/><Relationship Id="rId4" Type="http://schemas.openxmlformats.org/officeDocument/2006/relationships/image" Target="../media/image64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4.png"/><Relationship Id="rId4" Type="http://schemas.openxmlformats.org/officeDocument/2006/relationships/image" Target="../media/image70.png"/><Relationship Id="rId9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25.png"/><Relationship Id="rId4" Type="http://schemas.openxmlformats.org/officeDocument/2006/relationships/image" Target="../media/image22.png"/><Relationship Id="rId9" Type="http://schemas.openxmlformats.org/officeDocument/2006/relationships/image" Target="../media/image7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2.png"/><Relationship Id="rId9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8.png"/><Relationship Id="rId7" Type="http://schemas.openxmlformats.org/officeDocument/2006/relationships/image" Target="../media/image8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25.png"/><Relationship Id="rId4" Type="http://schemas.openxmlformats.org/officeDocument/2006/relationships/image" Target="../media/image79.png"/><Relationship Id="rId9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6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5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4;p13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" name="Google Shape;85;p13" descr="image.png"/>
          <p:cNvPicPr/>
          <p:nvPr/>
        </p:nvPicPr>
        <p:blipFill>
          <a:blip r:embed="rId3"/>
          <a:stretch/>
        </p:blipFill>
        <p:spPr>
          <a:xfrm>
            <a:off x="3951000" y="802440"/>
            <a:ext cx="4289040" cy="36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oogle Shape;86;p13" descr="image.png"/>
          <p:cNvPicPr/>
          <p:nvPr/>
        </p:nvPicPr>
        <p:blipFill>
          <a:blip r:embed="rId4"/>
          <a:stretch/>
        </p:blipFill>
        <p:spPr>
          <a:xfrm>
            <a:off x="1809720" y="4689360"/>
            <a:ext cx="8571600" cy="42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Google Shape;87;p13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89;p13"/>
          <p:cNvSpPr/>
          <p:nvPr/>
        </p:nvSpPr>
        <p:spPr>
          <a:xfrm>
            <a:off x="1809720" y="3295080"/>
            <a:ext cx="8571600" cy="10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Using Actor-Partner Interdependence Models (APIM) to explore indistinguishable and distinguishable dyads with Multilevel (MLM) &amp; Structural Equation Modeling (SEM) approaches.</a:t>
            </a:r>
            <a:endParaRPr lang="en-GB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Google Shape;90;p13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Google Shape;91;p13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Google Shape;92;p13"/>
          <p:cNvSpPr/>
          <p:nvPr/>
        </p:nvSpPr>
        <p:spPr>
          <a:xfrm>
            <a:off x="1809720" y="4937040"/>
            <a:ext cx="3675600" cy="1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Facilitators: </a:t>
            </a:r>
            <a:r>
              <a:rPr lang="en-US" sz="1130" b="1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Prof. C. Binnewies</a:t>
            </a:r>
            <a:r>
              <a:rPr lang="en-US" sz="113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 &amp; </a:t>
            </a:r>
            <a:r>
              <a:rPr lang="en-US" sz="1130" b="1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Prof. G. Michaelides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93;p13"/>
          <p:cNvSpPr/>
          <p:nvPr/>
        </p:nvSpPr>
        <p:spPr>
          <a:xfrm>
            <a:off x="7772400" y="4937040"/>
            <a:ext cx="2608920" cy="1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June 18, 2026 — University of Helsinki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lideIndicator94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99;p14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Google Shape;101;p14" descr="image.png"/>
          <p:cNvPicPr/>
          <p:nvPr/>
        </p:nvPicPr>
        <p:blipFill>
          <a:blip r:embed="rId3"/>
          <a:stretch/>
        </p:blipFill>
        <p:spPr>
          <a:xfrm>
            <a:off x="571680" y="2156400"/>
            <a:ext cx="2653920" cy="436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oogle Shape;102;p14" descr="image.png"/>
          <p:cNvPicPr/>
          <p:nvPr/>
        </p:nvPicPr>
        <p:blipFill>
          <a:blip r:embed="rId4"/>
          <a:stretch/>
        </p:blipFill>
        <p:spPr>
          <a:xfrm>
            <a:off x="3369600" y="2156400"/>
            <a:ext cx="2653920" cy="436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oogle Shape;103;p14" descr="image.png"/>
          <p:cNvPicPr/>
          <p:nvPr/>
        </p:nvPicPr>
        <p:blipFill>
          <a:blip r:embed="rId5"/>
          <a:stretch/>
        </p:blipFill>
        <p:spPr>
          <a:xfrm>
            <a:off x="6167520" y="2156400"/>
            <a:ext cx="2653920" cy="436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Google Shape;104;p14" descr="image.png"/>
          <p:cNvPicPr/>
          <p:nvPr/>
        </p:nvPicPr>
        <p:blipFill>
          <a:blip r:embed="rId6"/>
          <a:stretch/>
        </p:blipFill>
        <p:spPr>
          <a:xfrm>
            <a:off x="8965440" y="2156400"/>
            <a:ext cx="2653920" cy="436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Google Shape;105;p14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Google Shape;106;p14" descr="image.png"/>
          <p:cNvPicPr/>
          <p:nvPr/>
        </p:nvPicPr>
        <p:blipFill>
          <a:blip r:embed="rId7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oogle Shape;107;p14" descr="image.png"/>
          <p:cNvPicPr/>
          <p:nvPr/>
        </p:nvPicPr>
        <p:blipFill>
          <a:blip r:embed="rId8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Google Shape;109;p14"/>
          <p:cNvSpPr/>
          <p:nvPr/>
        </p:nvSpPr>
        <p:spPr>
          <a:xfrm>
            <a:off x="571680" y="428760"/>
            <a:ext cx="50281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D97706"/>
                </a:solidFill>
                <a:effectLst/>
                <a:uFillTx/>
                <a:latin typeface="Inter"/>
                <a:ea typeface="Inter"/>
              </a:rPr>
              <a:t>EAOHP 2026 WORKSHOP • OVERVIEW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0;p14"/>
          <p:cNvSpPr/>
          <p:nvPr/>
        </p:nvSpPr>
        <p:spPr>
          <a:xfrm>
            <a:off x="571680" y="619200"/>
            <a:ext cx="52797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Workshop Structure Overview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11;p14"/>
          <p:cNvSpPr/>
          <p:nvPr/>
        </p:nvSpPr>
        <p:spPr>
          <a:xfrm>
            <a:off x="1123920" y="2394360"/>
            <a:ext cx="186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01. Foundations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12;p14"/>
          <p:cNvSpPr/>
          <p:nvPr/>
        </p:nvSpPr>
        <p:spPr>
          <a:xfrm>
            <a:off x="809640" y="2756520"/>
            <a:ext cx="2177640" cy="85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Understand dyadic dependencies, assumptions, key APIM parameters, and structural distinguishability.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13;p14"/>
          <p:cNvSpPr/>
          <p:nvPr/>
        </p:nvSpPr>
        <p:spPr>
          <a:xfrm>
            <a:off x="3921840" y="2394360"/>
            <a:ext cx="1863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02. Indistinguishable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4;p14"/>
          <p:cNvSpPr/>
          <p:nvPr/>
        </p:nvSpPr>
        <p:spPr>
          <a:xfrm>
            <a:off x="3607560" y="2985120"/>
            <a:ext cx="2177640" cy="64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Model exchangeable partners using Multilevel Modeling (lme4) and SEM equality constraints.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5;p14"/>
          <p:cNvSpPr/>
          <p:nvPr/>
        </p:nvSpPr>
        <p:spPr>
          <a:xfrm>
            <a:off x="6719760" y="2394360"/>
            <a:ext cx="186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03. Distinguishable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16;p14"/>
          <p:cNvSpPr/>
          <p:nvPr/>
        </p:nvSpPr>
        <p:spPr>
          <a:xfrm>
            <a:off x="6405480" y="2756520"/>
            <a:ext cx="2177640" cy="85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Evaluate systemic roles (e.g. gender, hierarchy) using moderator, two-intercept, and multi-group SEM variations.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17;p14"/>
          <p:cNvSpPr/>
          <p:nvPr/>
        </p:nvSpPr>
        <p:spPr>
          <a:xfrm>
            <a:off x="9517680" y="2394360"/>
            <a:ext cx="1863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04. Advanced Topics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18;p14"/>
          <p:cNvSpPr/>
          <p:nvPr/>
        </p:nvSpPr>
        <p:spPr>
          <a:xfrm>
            <a:off x="9203400" y="2985120"/>
            <a:ext cx="2177640" cy="85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Address moderated crossover, diary designs, sample size guidelines, and missing data using FIML.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Google Shape;119;p14" descr="image.png"/>
          <p:cNvPicPr/>
          <p:nvPr/>
        </p:nvPicPr>
        <p:blipFill>
          <a:blip r:embed="rId9"/>
          <a:stretch/>
        </p:blipFill>
        <p:spPr>
          <a:xfrm>
            <a:off x="809640" y="242316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Google Shape;120;p14" descr="image.png"/>
          <p:cNvPicPr/>
          <p:nvPr/>
        </p:nvPicPr>
        <p:blipFill>
          <a:blip r:embed="rId10"/>
          <a:stretch/>
        </p:blipFill>
        <p:spPr>
          <a:xfrm>
            <a:off x="3607560" y="253728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Google Shape;121;p14" descr="image.png"/>
          <p:cNvPicPr/>
          <p:nvPr/>
        </p:nvPicPr>
        <p:blipFill>
          <a:blip r:embed="rId11"/>
          <a:stretch/>
        </p:blipFill>
        <p:spPr>
          <a:xfrm>
            <a:off x="6405480" y="242316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Google Shape;122;p14" descr="image.png"/>
          <p:cNvPicPr/>
          <p:nvPr/>
        </p:nvPicPr>
        <p:blipFill>
          <a:blip r:embed="rId12"/>
          <a:stretch/>
        </p:blipFill>
        <p:spPr>
          <a:xfrm>
            <a:off x="9203400" y="253728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SlideIndicator12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lideIndicatorTop124"/>
          <p:cNvSpPr/>
          <p:nvPr/>
        </p:nvSpPr>
        <p:spPr>
          <a:xfrm>
            <a:off x="10686960" y="428760"/>
            <a:ext cx="93240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128;p15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Google Shape;130;p15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409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Google Shape;131;p15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3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Google Shape;132;p15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Google Shape;133;p15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Google Shape;134;p15"/>
          <p:cNvSpPr/>
          <p:nvPr/>
        </p:nvSpPr>
        <p:spPr>
          <a:xfrm>
            <a:off x="571680" y="428760"/>
            <a:ext cx="35424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284C7"/>
                </a:solidFill>
                <a:effectLst/>
                <a:uFillTx/>
                <a:latin typeface="Inter"/>
                <a:ea typeface="Inter"/>
              </a:rPr>
              <a:t>EAOHP 2026 WORKSHOP • FOUNDATIONS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35;p15"/>
          <p:cNvSpPr/>
          <p:nvPr/>
        </p:nvSpPr>
        <p:spPr>
          <a:xfrm>
            <a:off x="571680" y="619200"/>
            <a:ext cx="371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What Is Dyadic Data?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36;p15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Dyadic data arise when observations are gathered in pairs (dyads) that demonstrate systematic interdependence. Common examples include: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37;p15"/>
          <p:cNvSpPr/>
          <p:nvPr/>
        </p:nvSpPr>
        <p:spPr>
          <a:xfrm>
            <a:off x="6748560" y="2043000"/>
            <a:ext cx="46328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Simulated Workshop Dataset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38;p15"/>
          <p:cNvSpPr/>
          <p:nvPr/>
        </p:nvSpPr>
        <p:spPr>
          <a:xfrm>
            <a:off x="6500880" y="240480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utilize a double-earner dataset styled after </a:t>
            </a:r>
            <a:r>
              <a:rPr lang="en-US" sz="1200" b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Hahn, Binnewies, &amp; Dormann (2014, JVB)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39;p15"/>
          <p:cNvSpPr/>
          <p:nvPr/>
        </p:nvSpPr>
        <p:spPr>
          <a:xfrm>
            <a:off x="838080" y="23832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Romantic Couples: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Partners in heterosexual or same-sex relationships (often distinguishable).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40;p15"/>
          <p:cNvSpPr/>
          <p:nvPr/>
        </p:nvSpPr>
        <p:spPr>
          <a:xfrm>
            <a:off x="838080" y="29829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Workplace Dyads: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Supervisor-subordinate, mentor-mentee configurations.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41;p15"/>
          <p:cNvSpPr/>
          <p:nvPr/>
        </p:nvSpPr>
        <p:spPr>
          <a:xfrm>
            <a:off x="838080" y="3583080"/>
            <a:ext cx="5090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Parent-Child Pairs: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Mothers &amp; daughters, fathers &amp; sons.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42;p15"/>
          <p:cNvSpPr/>
          <p:nvPr/>
        </p:nvSpPr>
        <p:spPr>
          <a:xfrm>
            <a:off x="838080" y="3940200"/>
            <a:ext cx="5090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Peer Groups: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Roommates, sports teammates, co-workers.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Google Shape;143;p15" descr="image.png"/>
          <p:cNvPicPr/>
          <p:nvPr/>
        </p:nvPicPr>
        <p:blipFill>
          <a:blip r:embed="rId6"/>
          <a:stretch/>
        </p:blipFill>
        <p:spPr>
          <a:xfrm>
            <a:off x="790560" y="4573800"/>
            <a:ext cx="1893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Google Shape;144;p15"/>
          <p:cNvSpPr/>
          <p:nvPr/>
        </p:nvSpPr>
        <p:spPr>
          <a:xfrm>
            <a:off x="1095480" y="4554720"/>
            <a:ext cx="4613760" cy="84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9F1239"/>
                </a:solidFill>
                <a:effectLst/>
                <a:uFillTx/>
                <a:latin typeface="Inter"/>
                <a:ea typeface="Inter"/>
              </a:rPr>
              <a:t>Non-independence violates classic OLS regression assumptions, leading to biased standard errors and highly inflated Type I error rates.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Google Shape;145;p15" descr="image.png"/>
          <p:cNvPicPr/>
          <p:nvPr/>
        </p:nvPicPr>
        <p:blipFill>
          <a:blip r:embed="rId7"/>
          <a:stretch/>
        </p:blipFill>
        <p:spPr>
          <a:xfrm>
            <a:off x="6500880" y="2071440"/>
            <a:ext cx="15120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Google Shape;146;p15"/>
          <p:cNvSpPr/>
          <p:nvPr/>
        </p:nvSpPr>
        <p:spPr>
          <a:xfrm>
            <a:off x="6767640" y="300492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Sample Size: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N = 100 couples (200 unique individuals)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47;p15"/>
          <p:cNvSpPr/>
          <p:nvPr/>
        </p:nvSpPr>
        <p:spPr>
          <a:xfrm>
            <a:off x="6767640" y="336204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Focal Predictor (X):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Work-Nonwork Connection (WNC)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48;p15"/>
          <p:cNvSpPr/>
          <p:nvPr/>
        </p:nvSpPr>
        <p:spPr>
          <a:xfrm>
            <a:off x="6767640" y="371952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Secondary Covariate (Z):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Psychological Recovery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49;p15"/>
          <p:cNvSpPr/>
          <p:nvPr/>
        </p:nvSpPr>
        <p:spPr>
          <a:xfrm>
            <a:off x="6767640" y="407664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Target Outcome (Y):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Relationship Satisfaction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50;p15"/>
          <p:cNvSpPr/>
          <p:nvPr/>
        </p:nvSpPr>
        <p:spPr>
          <a:xfrm>
            <a:off x="6767640" y="443376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Nesting Indices: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Gender, children indicators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152;p15" descr="image.png"/>
          <p:cNvPicPr/>
          <p:nvPr/>
        </p:nvPicPr>
        <p:blipFill>
          <a:blip r:embed="rId8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Google Shape;153;p15" descr="image.png"/>
          <p:cNvPicPr/>
          <p:nvPr/>
        </p:nvPicPr>
        <p:blipFill>
          <a:blip r:embed="rId8"/>
          <a:stretch/>
        </p:blipFill>
        <p:spPr>
          <a:xfrm>
            <a:off x="571680" y="30117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Google Shape;154;p15" descr="image.png"/>
          <p:cNvPicPr/>
          <p:nvPr/>
        </p:nvPicPr>
        <p:blipFill>
          <a:blip r:embed="rId8"/>
          <a:stretch/>
        </p:blipFill>
        <p:spPr>
          <a:xfrm>
            <a:off x="571680" y="3611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Google Shape;155;p15" descr="image.png"/>
          <p:cNvPicPr/>
          <p:nvPr/>
        </p:nvPicPr>
        <p:blipFill>
          <a:blip r:embed="rId8"/>
          <a:stretch/>
        </p:blipFill>
        <p:spPr>
          <a:xfrm>
            <a:off x="571680" y="3969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Google Shape;156;p15" descr="image.png"/>
          <p:cNvPicPr/>
          <p:nvPr/>
        </p:nvPicPr>
        <p:blipFill>
          <a:blip r:embed="rId8"/>
          <a:stretch/>
        </p:blipFill>
        <p:spPr>
          <a:xfrm>
            <a:off x="6500880" y="30337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Google Shape;157;p15" descr="image.png"/>
          <p:cNvPicPr/>
          <p:nvPr/>
        </p:nvPicPr>
        <p:blipFill>
          <a:blip r:embed="rId8"/>
          <a:stretch/>
        </p:blipFill>
        <p:spPr>
          <a:xfrm>
            <a:off x="6500880" y="33908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158;p15" descr="image.png"/>
          <p:cNvPicPr/>
          <p:nvPr/>
        </p:nvPicPr>
        <p:blipFill>
          <a:blip r:embed="rId8"/>
          <a:stretch/>
        </p:blipFill>
        <p:spPr>
          <a:xfrm>
            <a:off x="6500880" y="37479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159;p15" descr="image.png"/>
          <p:cNvPicPr/>
          <p:nvPr/>
        </p:nvPicPr>
        <p:blipFill>
          <a:blip r:embed="rId8"/>
          <a:stretch/>
        </p:blipFill>
        <p:spPr>
          <a:xfrm>
            <a:off x="6500880" y="4105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oogle Shape;160;p15" descr="image.png"/>
          <p:cNvPicPr/>
          <p:nvPr/>
        </p:nvPicPr>
        <p:blipFill>
          <a:blip r:embed="rId8"/>
          <a:stretch/>
        </p:blipFill>
        <p:spPr>
          <a:xfrm>
            <a:off x="6500880" y="44622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SlideIndicator161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lideIndicatorTop162"/>
          <p:cNvSpPr/>
          <p:nvPr/>
        </p:nvSpPr>
        <p:spPr>
          <a:xfrm>
            <a:off x="10686960" y="428760"/>
            <a:ext cx="93240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599;p3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601;p3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Google Shape;602;p3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Google Shape;603;p3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4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604;p30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oogle Shape;605;p30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Google Shape;606;p30"/>
          <p:cNvSpPr/>
          <p:nvPr/>
        </p:nvSpPr>
        <p:spPr>
          <a:xfrm>
            <a:off x="571680" y="428760"/>
            <a:ext cx="45709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47857"/>
                </a:solidFill>
                <a:effectLst/>
                <a:uFillTx/>
                <a:latin typeface="Inter"/>
                <a:ea typeface="Inter"/>
              </a:rPr>
              <a:t>EAOHP 2026 WORKSHOP • EXERCISES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607;p30"/>
          <p:cNvSpPr/>
          <p:nvPr/>
        </p:nvSpPr>
        <p:spPr>
          <a:xfrm>
            <a:off x="571680" y="619200"/>
            <a:ext cx="69987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Workshop Exercises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ubtitle32"/>
          <p:cNvSpPr/>
          <p:nvPr/>
        </p:nvSpPr>
        <p:spPr>
          <a:xfrm>
            <a:off x="571680" y="1080000"/>
            <a:ext cx="10798920" cy="26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An independent simulated dataset for practising crossover-of-work-outcomes techniques on a coherent research question.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608;p30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47857"/>
                </a:solidFill>
                <a:effectLst/>
                <a:uFillTx/>
                <a:latin typeface="Inter"/>
                <a:ea typeface="Inter"/>
              </a:rPr>
              <a:t>Research Scenario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609;p30"/>
          <p:cNvSpPr/>
          <p:nvPr/>
        </p:nvSpPr>
        <p:spPr>
          <a:xfrm>
            <a:off x="809640" y="1864440"/>
            <a:ext cx="4880520" cy="52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How does a partner’s affect, self-determination, and job crafting crossover to shape an actor’s work outcomes?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610;p30"/>
          <p:cNvSpPr/>
          <p:nvPr/>
        </p:nvSpPr>
        <p:spPr>
          <a:xfrm>
            <a:off x="681516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Dataset Specification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611;p30"/>
          <p:cNvSpPr/>
          <p:nvPr/>
        </p:nvSpPr>
        <p:spPr>
          <a:xfrm>
            <a:off x="6500880" y="1998360"/>
            <a:ext cx="4880520" cy="183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N = 250 dual-earner dyads (500 individuals)  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•  Gender: male / female 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•  ICC(1) predictors ≈ 0.30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tabLst>
                <a:tab pos="0" algn="l"/>
              </a:tabLst>
            </a:pP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tabLst>
                <a:tab pos="0" algn="l"/>
              </a:tabLst>
            </a:pP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   Files: exercise_data.Rdata ddl2 (long), ddw2 (wide)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Google Shape;612;p30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Google Shape;613;p30"/>
          <p:cNvSpPr/>
          <p:nvPr/>
        </p:nvSpPr>
        <p:spPr>
          <a:xfrm>
            <a:off x="1076400" y="240012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Predictors: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actor &amp; partner affect, SDT, job crafting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614;p30"/>
          <p:cNvSpPr/>
          <p:nvPr/>
        </p:nvSpPr>
        <p:spPr>
          <a:xfrm>
            <a:off x="1076400" y="290016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Outcomes: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engagement, performance, creativity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615;p30"/>
          <p:cNvSpPr/>
          <p:nvPr/>
        </p:nvSpPr>
        <p:spPr>
          <a:xfrm>
            <a:off x="1076400" y="339984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Moderators: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live together, years together, time spent this morning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Google Shape;616;p30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Google Shape;620;p30" descr="image.png"/>
          <p:cNvPicPr/>
          <p:nvPr/>
        </p:nvPicPr>
        <p:blipFill>
          <a:blip r:embed="rId9"/>
          <a:stretch/>
        </p:blipFill>
        <p:spPr>
          <a:xfrm>
            <a:off x="809640" y="2400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oogle Shape;621;p30" descr="image.png"/>
          <p:cNvPicPr/>
          <p:nvPr/>
        </p:nvPicPr>
        <p:blipFill>
          <a:blip r:embed="rId9"/>
          <a:stretch/>
        </p:blipFill>
        <p:spPr>
          <a:xfrm>
            <a:off x="809640" y="29001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Google Shape;622;p30" descr="image.png"/>
          <p:cNvPicPr/>
          <p:nvPr/>
        </p:nvPicPr>
        <p:blipFill>
          <a:blip r:embed="rId9"/>
          <a:stretch/>
        </p:blipFill>
        <p:spPr>
          <a:xfrm>
            <a:off x="809640" y="33998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SlideIndicator62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4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lideIndicatorTop62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4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"/>
          <p:cNvSpPr/>
          <p:nvPr/>
        </p:nvSpPr>
        <p:spPr>
          <a:xfrm>
            <a:off x="3123360" y="4365360"/>
            <a:ext cx="5366880" cy="138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9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Focal crossovers: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partner job crafting x live_together -&gt; engagement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partner SDT x years_together -&gt; performance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partner affect x time spent -&gt; creativity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599;p3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Google Shape;601;p3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Google Shape;602;p3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603;p3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5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Google Shape;604;p30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oogle Shape;605;p30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Google Shape;606;p30"/>
          <p:cNvSpPr/>
          <p:nvPr/>
        </p:nvSpPr>
        <p:spPr>
          <a:xfrm>
            <a:off x="571680" y="428760"/>
            <a:ext cx="45709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47857"/>
                </a:solidFill>
                <a:effectLst/>
                <a:uFillTx/>
                <a:latin typeface="Inter"/>
                <a:ea typeface="Inter"/>
              </a:rPr>
              <a:t>EAOHP 2026 WORKSHOP • EXERCISES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607;p30"/>
          <p:cNvSpPr/>
          <p:nvPr/>
        </p:nvSpPr>
        <p:spPr>
          <a:xfrm>
            <a:off x="571680" y="619200"/>
            <a:ext cx="69987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Exercises &amp; Answer Template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ubtitle33"/>
          <p:cNvSpPr/>
          <p:nvPr/>
        </p:nvSpPr>
        <p:spPr>
          <a:xfrm>
            <a:off x="571680" y="1080000"/>
            <a:ext cx="10798920" cy="26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A guided, prose-only workflow for adapting scripts 02-08 to the exercise dataset - emphasis on interpretation, not copy-paste.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608;p30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47857"/>
                </a:solidFill>
                <a:effectLst/>
                <a:uFillTx/>
                <a:latin typeface="Inter"/>
                <a:ea typeface="Inter"/>
              </a:rPr>
              <a:t>exercises/exercises.md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609;p30"/>
          <p:cNvSpPr/>
          <p:nvPr/>
        </p:nvSpPr>
        <p:spPr>
          <a:xfrm>
            <a:off x="809640" y="1998360"/>
            <a:ext cx="4880520" cy="27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9 sections mirroring scripts 02-08 + integrative Section 9.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610;p30"/>
          <p:cNvSpPr/>
          <p:nvPr/>
        </p:nvSpPr>
        <p:spPr>
          <a:xfrm>
            <a:off x="681516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exercises/answers_template.R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611;p30"/>
          <p:cNvSpPr/>
          <p:nvPr/>
        </p:nvSpPr>
        <p:spPr>
          <a:xfrm>
            <a:off x="6500880" y="1998360"/>
            <a:ext cx="4880520" cy="185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How to use the template: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15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1.  Run simulate_exercise_data.R to load data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15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2.  Read exercises.md section by section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15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3.  Open answers_template.R alongside each script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15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4.  Apply the substitution table to map data to scripts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9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115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5.  Write a 1-sentence interpretation as a comment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Google Shape;612;p30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613;p30"/>
          <p:cNvSpPr/>
          <p:nvPr/>
        </p:nvSpPr>
        <p:spPr>
          <a:xfrm>
            <a:off x="1076400" y="240012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Sections 1-3: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 02-04 (APIM, multilevel, distinguishable)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614;p30"/>
          <p:cNvSpPr/>
          <p:nvPr/>
        </p:nvSpPr>
        <p:spPr>
          <a:xfrm>
            <a:off x="1076400" y="290016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Sections 4-6: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 05-07 (distinguishable SEM, two-intercept)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615;p30"/>
          <p:cNvSpPr/>
          <p:nvPr/>
        </p:nvSpPr>
        <p:spPr>
          <a:xfrm>
            <a:off x="1076400" y="3399840"/>
            <a:ext cx="461376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Section 9: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integrative reflection across all models on the exercise dataset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Google Shape;616;p30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oogle Shape;620;p30" descr="image.png"/>
          <p:cNvPicPr/>
          <p:nvPr/>
        </p:nvPicPr>
        <p:blipFill>
          <a:blip r:embed="rId9"/>
          <a:stretch/>
        </p:blipFill>
        <p:spPr>
          <a:xfrm>
            <a:off x="809640" y="2400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oogle Shape;621;p30" descr="image.png"/>
          <p:cNvPicPr/>
          <p:nvPr/>
        </p:nvPicPr>
        <p:blipFill>
          <a:blip r:embed="rId9"/>
          <a:stretch/>
        </p:blipFill>
        <p:spPr>
          <a:xfrm>
            <a:off x="809640" y="29001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oogle Shape;622;p30" descr="image.png"/>
          <p:cNvPicPr/>
          <p:nvPr/>
        </p:nvPicPr>
        <p:blipFill>
          <a:blip r:embed="rId9"/>
          <a:stretch/>
        </p:blipFill>
        <p:spPr>
          <a:xfrm>
            <a:off x="809640" y="33998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SlideIndicator62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lideIndicatorTop62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65;p16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oogle Shape;167;p16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361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Google Shape;168;p16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6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Google Shape;169;p16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oogle Shape;170;p16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Google Shape;171;p16"/>
          <p:cNvSpPr/>
          <p:nvPr/>
        </p:nvSpPr>
        <p:spPr>
          <a:xfrm>
            <a:off x="571680" y="428760"/>
            <a:ext cx="34754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284C7"/>
                </a:solidFill>
                <a:effectLst/>
                <a:uFillTx/>
                <a:latin typeface="Inter"/>
                <a:ea typeface="Inter"/>
              </a:rPr>
              <a:t>EAOHP 2026 WORKSHOP • FOUNDATIONS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72;p16"/>
          <p:cNvSpPr/>
          <p:nvPr/>
        </p:nvSpPr>
        <p:spPr>
          <a:xfrm>
            <a:off x="571680" y="619200"/>
            <a:ext cx="36493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The APIM Framework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173;p16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The **Actor-Partner Interdependence Model** (Kenny, Kashy, &amp; Cook, 2006) resolves dyadic dependencies by estimating individual pathways simultaneously: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174;p16"/>
          <p:cNvSpPr/>
          <p:nvPr/>
        </p:nvSpPr>
        <p:spPr>
          <a:xfrm>
            <a:off x="838080" y="238320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Actor Effects (a):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The influence of your own predictor status on your own target outcome (e.g. Own connection → Own satisfaction).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175;p16"/>
          <p:cNvSpPr/>
          <p:nvPr/>
        </p:nvSpPr>
        <p:spPr>
          <a:xfrm>
            <a:off x="838080" y="322596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Partner Effects (p):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The interpersonal crossover of your partner's predictor on your outcome (e.g. Partner's connection → Own satisfaction).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176;p16"/>
          <p:cNvSpPr/>
          <p:nvPr/>
        </p:nvSpPr>
        <p:spPr>
          <a:xfrm>
            <a:off x="838080" y="406908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Simultaneous Control: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Modeling actor and partner paths together extracts true cross-partner influence while isolating individual biases.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Google Shape;178;p16" descr="image.png"/>
          <p:cNvPicPr/>
          <p:nvPr/>
        </p:nvPicPr>
        <p:blipFill>
          <a:blip r:embed="rId6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Google Shape;179;p16" descr="image.png"/>
          <p:cNvPicPr/>
          <p:nvPr/>
        </p:nvPicPr>
        <p:blipFill>
          <a:blip r:embed="rId6"/>
          <a:stretch/>
        </p:blipFill>
        <p:spPr>
          <a:xfrm>
            <a:off x="571680" y="32544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Google Shape;180;p16" descr="image.png"/>
          <p:cNvPicPr/>
          <p:nvPr/>
        </p:nvPicPr>
        <p:blipFill>
          <a:blip r:embed="rId6"/>
          <a:stretch/>
        </p:blipFill>
        <p:spPr>
          <a:xfrm>
            <a:off x="571680" y="40975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SlideIndicator181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6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lideIndicatorTop182"/>
          <p:cNvSpPr/>
          <p:nvPr/>
        </p:nvSpPr>
        <p:spPr>
          <a:xfrm>
            <a:off x="10686960" y="428760"/>
            <a:ext cx="93240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6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65;p16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Google Shape;168;p16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7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Google Shape;169;p16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oogle Shape;170;p16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Google Shape;171;p16"/>
          <p:cNvSpPr/>
          <p:nvPr/>
        </p:nvSpPr>
        <p:spPr>
          <a:xfrm>
            <a:off x="571680" y="428760"/>
            <a:ext cx="34754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284C7"/>
                </a:solidFill>
                <a:effectLst/>
                <a:uFillTx/>
                <a:latin typeface="Inter"/>
                <a:ea typeface="Inter"/>
              </a:rPr>
              <a:t>EAOHP 2026 WORKSHOP • FOUNDATIONS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lideIndicator181"/>
          <p:cNvSpPr/>
          <p:nvPr/>
        </p:nvSpPr>
        <p:spPr>
          <a:xfrm>
            <a:off x="10306080" y="6356160"/>
            <a:ext cx="1694520" cy="18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7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lideIndicatorTop182"/>
          <p:cNvSpPr/>
          <p:nvPr/>
        </p:nvSpPr>
        <p:spPr>
          <a:xfrm>
            <a:off x="10686960" y="455400"/>
            <a:ext cx="932400" cy="18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7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Google Shape;335;p21" descr="image.png"/>
          <p:cNvPicPr/>
          <p:nvPr/>
        </p:nvPicPr>
        <p:blipFill>
          <a:blip r:embed="rId5"/>
          <a:stretch/>
        </p:blipFill>
        <p:spPr>
          <a:xfrm>
            <a:off x="571680" y="1369800"/>
            <a:ext cx="5356800" cy="433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Google Shape;336;p21" descr="image.png"/>
          <p:cNvPicPr/>
          <p:nvPr/>
        </p:nvPicPr>
        <p:blipFill>
          <a:blip r:embed="rId6"/>
          <a:stretch/>
        </p:blipFill>
        <p:spPr>
          <a:xfrm>
            <a:off x="6262560" y="1369800"/>
            <a:ext cx="5356800" cy="433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Google Shape;338;p21" descr="image.png"/>
          <p:cNvPicPr/>
          <p:nvPr/>
        </p:nvPicPr>
        <p:blipFill>
          <a:blip r:embed="rId7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Google Shape;339;p21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oogle Shape;342;p21" descr="image.png"/>
          <p:cNvPicPr/>
          <p:nvPr/>
        </p:nvPicPr>
        <p:blipFill>
          <a:blip r:embed="rId8"/>
          <a:stretch/>
        </p:blipFill>
        <p:spPr>
          <a:xfrm>
            <a:off x="752400" y="5991120"/>
            <a:ext cx="1893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Google Shape;343;p21"/>
          <p:cNvSpPr/>
          <p:nvPr/>
        </p:nvSpPr>
        <p:spPr>
          <a:xfrm>
            <a:off x="1057320" y="5972040"/>
            <a:ext cx="10381320" cy="42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9F1239"/>
                </a:solidFill>
                <a:effectLst/>
                <a:uFillTx/>
                <a:latin typeface="Inter"/>
                <a:ea typeface="Inter"/>
              </a:rPr>
              <a:t>Important:</a:t>
            </a:r>
            <a:r>
              <a:rPr lang="en-US" sz="1130" b="0" u="none" strike="noStrike">
                <a:solidFill>
                  <a:srgbClr val="9F1239"/>
                </a:solidFill>
                <a:effectLst/>
                <a:uFillTx/>
                <a:latin typeface="Inter"/>
                <a:ea typeface="Inter"/>
              </a:rPr>
              <a:t> Indistinguishability is an empirical hypothesis. Always test it formally (by comparing a constrained model with an unconstrained version) before locking in equal-parameter constraints!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344;p21"/>
          <p:cNvSpPr/>
          <p:nvPr/>
        </p:nvSpPr>
        <p:spPr>
          <a:xfrm>
            <a:off x="1123920" y="164592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Indistinguishable Dyads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345;p21"/>
          <p:cNvSpPr/>
          <p:nvPr/>
        </p:nvSpPr>
        <p:spPr>
          <a:xfrm>
            <a:off x="809640" y="200772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Members are exchangeable. No baseline or stable structural variable differentiates them.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346;p21"/>
          <p:cNvSpPr/>
          <p:nvPr/>
        </p:nvSpPr>
        <p:spPr>
          <a:xfrm>
            <a:off x="6815160" y="164592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Distinguishable Dyads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347;p21"/>
          <p:cNvSpPr/>
          <p:nvPr/>
        </p:nvSpPr>
        <p:spPr>
          <a:xfrm>
            <a:off x="6500880" y="200772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Members can be classified using a systematic, theoretical variable that is consistent across the sample.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Google Shape;348;p21" descr="image.png"/>
          <p:cNvPicPr/>
          <p:nvPr/>
        </p:nvPicPr>
        <p:blipFill>
          <a:blip r:embed="rId9"/>
          <a:stretch/>
        </p:blipFill>
        <p:spPr>
          <a:xfrm>
            <a:off x="809640" y="167436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Google Shape;349;p21"/>
          <p:cNvSpPr/>
          <p:nvPr/>
        </p:nvSpPr>
        <p:spPr>
          <a:xfrm>
            <a:off x="1076400" y="257940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Arbitrary Labels: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Partner labels (e.g. A vs B, Left vs Right) are completely interchangeable.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350;p21"/>
          <p:cNvSpPr/>
          <p:nvPr/>
        </p:nvSpPr>
        <p:spPr>
          <a:xfrm>
            <a:off x="1076400" y="317952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Equality Constraints: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Actor and partner slopes must be constrained to be mathematically equal across partners.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351;p21"/>
          <p:cNvSpPr/>
          <p:nvPr/>
        </p:nvSpPr>
        <p:spPr>
          <a:xfrm>
            <a:off x="1076400" y="377964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Typical Examples: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Same-sex roommates, co-workers of equal organizational rank, sibling pairs.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Google Shape;352;p21" descr="image.png"/>
          <p:cNvPicPr/>
          <p:nvPr/>
        </p:nvPicPr>
        <p:blipFill>
          <a:blip r:embed="rId10"/>
          <a:stretch/>
        </p:blipFill>
        <p:spPr>
          <a:xfrm>
            <a:off x="6500880" y="167436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Google Shape;353;p21"/>
          <p:cNvSpPr/>
          <p:nvPr/>
        </p:nvSpPr>
        <p:spPr>
          <a:xfrm>
            <a:off x="6767640" y="257940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Systematic Labels: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Partners are labeled using a meaningful criterion (e.g. Wife/Husband, Boss/Employee).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Google Shape;355;p21"/>
          <p:cNvSpPr/>
          <p:nvPr/>
        </p:nvSpPr>
        <p:spPr>
          <a:xfrm>
            <a:off x="6767640" y="377964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Typical Examples: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Heterosexual couples, medical caregiver-patient dyads, manager-employee pairs.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" name="Google Shape;357;p21" descr="image.png"/>
          <p:cNvPicPr/>
          <p:nvPr/>
        </p:nvPicPr>
        <p:blipFill>
          <a:blip r:embed="rId11"/>
          <a:stretch/>
        </p:blipFill>
        <p:spPr>
          <a:xfrm>
            <a:off x="809640" y="26078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oogle Shape;358;p21" descr="image.png"/>
          <p:cNvPicPr/>
          <p:nvPr/>
        </p:nvPicPr>
        <p:blipFill>
          <a:blip r:embed="rId11"/>
          <a:stretch/>
        </p:blipFill>
        <p:spPr>
          <a:xfrm>
            <a:off x="809640" y="32079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Google Shape;359;p21" descr="image.png"/>
          <p:cNvPicPr/>
          <p:nvPr/>
        </p:nvPicPr>
        <p:blipFill>
          <a:blip r:embed="rId11"/>
          <a:stretch/>
        </p:blipFill>
        <p:spPr>
          <a:xfrm>
            <a:off x="809640" y="3808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8" name="Google Shape;360;p21" descr="image.png"/>
          <p:cNvPicPr/>
          <p:nvPr/>
        </p:nvPicPr>
        <p:blipFill>
          <a:blip r:embed="rId11"/>
          <a:stretch/>
        </p:blipFill>
        <p:spPr>
          <a:xfrm>
            <a:off x="6500880" y="26078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9" name="Google Shape;361;p21" descr="image.png"/>
          <p:cNvPicPr/>
          <p:nvPr/>
        </p:nvPicPr>
        <p:blipFill>
          <a:blip r:embed="rId11"/>
          <a:stretch/>
        </p:blipFill>
        <p:spPr>
          <a:xfrm>
            <a:off x="6500880" y="32079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0" name="Google Shape;362;p21" descr="image.png"/>
          <p:cNvPicPr/>
          <p:nvPr/>
        </p:nvPicPr>
        <p:blipFill>
          <a:blip r:embed="rId11"/>
          <a:stretch/>
        </p:blipFill>
        <p:spPr>
          <a:xfrm>
            <a:off x="6500880" y="3808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Google Shape;341;p21"/>
          <p:cNvSpPr/>
          <p:nvPr/>
        </p:nvSpPr>
        <p:spPr>
          <a:xfrm>
            <a:off x="571680" y="619200"/>
            <a:ext cx="65599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Indistinguishable vs. Distinguishable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40;p19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Google Shape;242;p19" descr="image.png"/>
          <p:cNvPicPr/>
          <p:nvPr/>
        </p:nvPicPr>
        <p:blipFill>
          <a:blip r:embed="rId3"/>
          <a:stretch/>
        </p:blipFill>
        <p:spPr>
          <a:xfrm>
            <a:off x="571680" y="1834560"/>
            <a:ext cx="11048040" cy="27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Google Shape;243;p19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8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Google Shape;244;p19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Google Shape;245;p19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Google Shape;246;p19"/>
          <p:cNvSpPr/>
          <p:nvPr/>
        </p:nvSpPr>
        <p:spPr>
          <a:xfrm>
            <a:off x="571680" y="1369800"/>
            <a:ext cx="110480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Choose the optimal modeling combination based on your data layout, distinguishability, and nested structures: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248;p19"/>
          <p:cNvSpPr/>
          <p:nvPr/>
        </p:nvSpPr>
        <p:spPr>
          <a:xfrm>
            <a:off x="571680" y="619200"/>
            <a:ext cx="50497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Modeling Options Taxonomy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Google Shape;249;p19"/>
          <p:cNvGraphicFramePr/>
          <p:nvPr/>
        </p:nvGraphicFramePr>
        <p:xfrm>
          <a:off x="581040" y="1843920"/>
          <a:ext cx="11029320" cy="2693520"/>
        </p:xfrm>
        <a:graphic>
          <a:graphicData uri="http://schemas.openxmlformats.org/drawingml/2006/table">
            <a:tbl>
              <a:tblPr/>
              <a:tblGrid>
                <a:gridCol w="213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14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Modeling Strategy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Analytical Framework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Data Layout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Core Application &amp; Mechanism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Indistinguishable APIM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MLM (e.g., lme4)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Format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Symmetric pooling of slopes across members; simple intercept ICC check.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Moderated MLM APIM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MLM (e.g., lme4)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Format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Incorporates member interactions directly into continuous pathways.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Two-Intercept MLM APIM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MLM (e.g., lme4)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Format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Suppresses overall intercept to map distinct group means simultaneously.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Standard SEM APIM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SEM (e.g., lavaan)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Wide Format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Strict parameter constraints, goodness-of-fit indices, FIML for missing data.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Multilevel SEM (MSEM)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MSEM (e.g., lavaan)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(Nested)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Simultaneous latent variables and complex nesting within nested arrays.</a:t>
                      </a:r>
                      <a:endParaRPr lang="en-GB" sz="11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230" name="Google Shape;250;p19" descr="image.png"/>
          <p:cNvPicPr/>
          <p:nvPr/>
        </p:nvPicPr>
        <p:blipFill>
          <a:blip r:embed="rId6"/>
          <a:stretch/>
        </p:blipFill>
        <p:spPr>
          <a:xfrm>
            <a:off x="771480" y="4901400"/>
            <a:ext cx="2181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Google Shape;251;p19"/>
          <p:cNvSpPr/>
          <p:nvPr/>
        </p:nvSpPr>
        <p:spPr>
          <a:xfrm>
            <a:off x="1104840" y="4882320"/>
            <a:ext cx="4623480" cy="64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Framework Choice:</a:t>
            </a: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 MLM models excel at complex nesting patterns, daily diaries, and unbalanced structures. SEM provides fit indices, simultaneous constraints, and mediation tests.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Google Shape;252;p19" descr="image.png"/>
          <p:cNvPicPr/>
          <p:nvPr/>
        </p:nvPicPr>
        <p:blipFill>
          <a:blip r:embed="rId7"/>
          <a:stretch/>
        </p:blipFill>
        <p:spPr>
          <a:xfrm>
            <a:off x="6462720" y="4901400"/>
            <a:ext cx="17028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Google Shape;253;p19"/>
          <p:cNvSpPr/>
          <p:nvPr/>
        </p:nvSpPr>
        <p:spPr>
          <a:xfrm>
            <a:off x="6748560" y="4882320"/>
            <a:ext cx="4671000" cy="64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166534"/>
                </a:solidFill>
                <a:effectLst/>
                <a:uFillTx/>
                <a:latin typeface="Inter"/>
                <a:ea typeface="Inter"/>
              </a:rPr>
              <a:t>Specification Tip:</a:t>
            </a:r>
            <a:r>
              <a:rPr lang="en-US" sz="1130" b="0" u="none" strike="noStrike">
                <a:solidFill>
                  <a:srgbClr val="166534"/>
                </a:solidFill>
                <a:effectLst/>
                <a:uFillTx/>
                <a:latin typeface="Inter"/>
                <a:ea typeface="Inter"/>
              </a:rPr>
              <a:t> Wide-format SEM allows testing of complex, non-linear partner spillover parameters and structural residuals that are difficult to write in traditional MLM notation.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lideIndicator254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lideIndicatorTop255"/>
          <p:cNvSpPr/>
          <p:nvPr/>
        </p:nvSpPr>
        <p:spPr>
          <a:xfrm>
            <a:off x="10696680" y="428760"/>
            <a:ext cx="9226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171;p16"/>
          <p:cNvSpPr/>
          <p:nvPr/>
        </p:nvSpPr>
        <p:spPr>
          <a:xfrm>
            <a:off x="571680" y="428760"/>
            <a:ext cx="34754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284C7"/>
                </a:solidFill>
                <a:effectLst/>
                <a:uFillTx/>
                <a:latin typeface="Inter"/>
                <a:ea typeface="Inter"/>
              </a:rPr>
              <a:t>EAOHP 2026 WORKSHOP • FOUNDATIONS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75;p2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0" name="Google Shape;277;p2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515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1" name="Google Shape;278;p2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515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Google Shape;279;p20" descr="image.png"/>
          <p:cNvPicPr/>
          <p:nvPr/>
        </p:nvPicPr>
        <p:blipFill>
          <a:blip r:embed="rId5"/>
          <a:stretch/>
        </p:blipFill>
        <p:spPr>
          <a:xfrm>
            <a:off x="771480" y="5217480"/>
            <a:ext cx="4956840" cy="114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Google Shape;280;p20" descr="image.png"/>
          <p:cNvPicPr/>
          <p:nvPr/>
        </p:nvPicPr>
        <p:blipFill>
          <a:blip r:embed="rId6"/>
          <a:stretch/>
        </p:blipFill>
        <p:spPr>
          <a:xfrm>
            <a:off x="6462720" y="5217480"/>
            <a:ext cx="4956840" cy="114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oogle Shape;281;p20" descr="image.png"/>
          <p:cNvPicPr/>
          <p:nvPr/>
        </p:nvPicPr>
        <p:blipFill>
          <a:blip r:embed="rId7"/>
          <a:stretch/>
        </p:blipFill>
        <p:spPr>
          <a:xfrm>
            <a:off x="771480" y="2112480"/>
            <a:ext cx="4956840" cy="128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oogle Shape;282;p20" descr="image.png"/>
          <p:cNvPicPr/>
          <p:nvPr/>
        </p:nvPicPr>
        <p:blipFill>
          <a:blip r:embed="rId8"/>
          <a:stretch/>
        </p:blipFill>
        <p:spPr>
          <a:xfrm>
            <a:off x="6462720" y="2112480"/>
            <a:ext cx="4956840" cy="214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Google Shape;283;p2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10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Google Shape;284;p20" descr="image.png"/>
          <p:cNvPicPr/>
          <p:nvPr/>
        </p:nvPicPr>
        <p:blipFill>
          <a:blip r:embed="rId9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oogle Shape;285;p20" descr="image.png"/>
          <p:cNvPicPr/>
          <p:nvPr/>
        </p:nvPicPr>
        <p:blipFill>
          <a:blip r:embed="rId10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286;p20"/>
          <p:cNvSpPr/>
          <p:nvPr/>
        </p:nvSpPr>
        <p:spPr>
          <a:xfrm>
            <a:off x="571680" y="428760"/>
            <a:ext cx="39042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287;p20"/>
          <p:cNvSpPr/>
          <p:nvPr/>
        </p:nvSpPr>
        <p:spPr>
          <a:xfrm>
            <a:off x="571680" y="619200"/>
            <a:ext cx="40993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Reshaping Dyadic Data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288;p20"/>
          <p:cNvSpPr/>
          <p:nvPr/>
        </p:nvSpPr>
        <p:spPr>
          <a:xfrm>
            <a:off x="1038240" y="1531440"/>
            <a:ext cx="46900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Wide Format (1 Row/Dyad)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289;p20"/>
          <p:cNvSpPr/>
          <p:nvPr/>
        </p:nvSpPr>
        <p:spPr>
          <a:xfrm>
            <a:off x="771480" y="1836360"/>
            <a:ext cx="49568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Standard for SEM with suffix variable labels mapping to specific roles.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290;p20"/>
          <p:cNvSpPr/>
          <p:nvPr/>
        </p:nvSpPr>
        <p:spPr>
          <a:xfrm>
            <a:off x="933480" y="5341320"/>
            <a:ext cx="20563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i="1" u="none" strike="noStrike">
                <a:solidFill>
                  <a:srgbClr val="64748B"/>
                </a:solidFill>
                <a:effectLst/>
                <a:uFillTx/>
                <a:latin typeface="Fira Code"/>
                <a:ea typeface="Fira Code"/>
              </a:rPr>
              <a:t># Reshape from Wide to Long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291;p20"/>
          <p:cNvSpPr/>
          <p:nvPr/>
        </p:nvSpPr>
        <p:spPr>
          <a:xfrm>
            <a:off x="1085760" y="5700240"/>
            <a:ext cx="9133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BBF24"/>
                </a:solidFill>
                <a:effectLst/>
                <a:uFillTx/>
                <a:latin typeface="Fira Code"/>
                <a:ea typeface="Fira Code"/>
              </a:rPr>
              <a:t>pivot_longer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292;p20"/>
          <p:cNvSpPr/>
          <p:nvPr/>
        </p:nvSpPr>
        <p:spPr>
          <a:xfrm>
            <a:off x="2076480" y="5700240"/>
            <a:ext cx="3038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cols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293;p20"/>
          <p:cNvSpPr/>
          <p:nvPr/>
        </p:nvSpPr>
        <p:spPr>
          <a:xfrm>
            <a:off x="1238400" y="5879880"/>
            <a:ext cx="60840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names_to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294;p20"/>
          <p:cNvSpPr/>
          <p:nvPr/>
        </p:nvSpPr>
        <p:spPr>
          <a:xfrm>
            <a:off x="2076480" y="5879880"/>
            <a:ext cx="752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BBF24"/>
                </a:solidFill>
                <a:effectLst/>
                <a:uFillTx/>
                <a:latin typeface="Fira Code"/>
                <a:ea typeface="Fira Code"/>
              </a:rPr>
              <a:t>c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295;p20"/>
          <p:cNvSpPr/>
          <p:nvPr/>
        </p:nvSpPr>
        <p:spPr>
          <a:xfrm>
            <a:off x="2228760" y="5879880"/>
            <a:ext cx="60840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4D399"/>
                </a:solidFill>
                <a:effectLst/>
                <a:uFillTx/>
                <a:latin typeface="Fira Code"/>
                <a:ea typeface="Fira Code"/>
              </a:rPr>
              <a:t>".value"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296;p20"/>
          <p:cNvSpPr/>
          <p:nvPr/>
        </p:nvSpPr>
        <p:spPr>
          <a:xfrm>
            <a:off x="2990880" y="5879880"/>
            <a:ext cx="4561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4D399"/>
                </a:solidFill>
                <a:effectLst/>
                <a:uFillTx/>
                <a:latin typeface="Fira Code"/>
                <a:ea typeface="Fira Code"/>
              </a:rPr>
              <a:t>"role"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297;p20"/>
          <p:cNvSpPr/>
          <p:nvPr/>
        </p:nvSpPr>
        <p:spPr>
          <a:xfrm>
            <a:off x="1238400" y="6059520"/>
            <a:ext cx="6847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names_sep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298;p20"/>
          <p:cNvSpPr/>
          <p:nvPr/>
        </p:nvSpPr>
        <p:spPr>
          <a:xfrm>
            <a:off x="2152800" y="6059520"/>
            <a:ext cx="2275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4D399"/>
                </a:solidFill>
                <a:effectLst/>
                <a:uFillTx/>
                <a:latin typeface="Fira Code"/>
                <a:ea typeface="Fira Code"/>
              </a:rPr>
              <a:t>"_"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299;p20"/>
          <p:cNvSpPr/>
          <p:nvPr/>
        </p:nvSpPr>
        <p:spPr>
          <a:xfrm>
            <a:off x="6662880" y="1531440"/>
            <a:ext cx="47566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Long Format (2 Rows/Dyad)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300;p20"/>
          <p:cNvSpPr/>
          <p:nvPr/>
        </p:nvSpPr>
        <p:spPr>
          <a:xfrm>
            <a:off x="6462720" y="1836360"/>
            <a:ext cx="49568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Standard for MLM with repeated observations nested within a single key.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Google Shape;301;p20"/>
          <p:cNvSpPr/>
          <p:nvPr/>
        </p:nvSpPr>
        <p:spPr>
          <a:xfrm>
            <a:off x="6624720" y="5341320"/>
            <a:ext cx="205632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i="1" u="none" strike="noStrike">
                <a:solidFill>
                  <a:srgbClr val="64748B"/>
                </a:solidFill>
                <a:effectLst/>
                <a:uFillTx/>
                <a:latin typeface="Fira Code"/>
                <a:ea typeface="Fira Code"/>
              </a:rPr>
              <a:t># Reshape from Long to Wide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Google Shape;302;p20"/>
          <p:cNvSpPr/>
          <p:nvPr/>
        </p:nvSpPr>
        <p:spPr>
          <a:xfrm>
            <a:off x="6777000" y="5700240"/>
            <a:ext cx="83700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BBF24"/>
                </a:solidFill>
                <a:effectLst/>
                <a:uFillTx/>
                <a:latin typeface="Fira Code"/>
                <a:ea typeface="Fira Code"/>
              </a:rPr>
              <a:t>pivot_wider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303;p20"/>
          <p:cNvSpPr/>
          <p:nvPr/>
        </p:nvSpPr>
        <p:spPr>
          <a:xfrm>
            <a:off x="7691400" y="5700240"/>
            <a:ext cx="5324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id_cols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304;p20"/>
          <p:cNvSpPr/>
          <p:nvPr/>
        </p:nvSpPr>
        <p:spPr>
          <a:xfrm>
            <a:off x="6929280" y="5879880"/>
            <a:ext cx="7610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names_from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305;p20"/>
          <p:cNvSpPr/>
          <p:nvPr/>
        </p:nvSpPr>
        <p:spPr>
          <a:xfrm>
            <a:off x="6929280" y="6059520"/>
            <a:ext cx="83700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values_from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306;p20"/>
          <p:cNvSpPr/>
          <p:nvPr/>
        </p:nvSpPr>
        <p:spPr>
          <a:xfrm>
            <a:off x="7996320" y="6059520"/>
            <a:ext cx="75240" cy="16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BBF24"/>
                </a:solidFill>
                <a:effectLst/>
                <a:uFillTx/>
                <a:latin typeface="Fira Code"/>
                <a:ea typeface="Fira Code"/>
              </a:rPr>
              <a:t>c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Google Shape;307;p20" descr="image.png"/>
          <p:cNvPicPr/>
          <p:nvPr/>
        </p:nvPicPr>
        <p:blipFill>
          <a:blip r:embed="rId11"/>
          <a:stretch/>
        </p:blipFill>
        <p:spPr>
          <a:xfrm>
            <a:off x="771480" y="156024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91" name="Google Shape;308;p20"/>
          <p:cNvGraphicFramePr/>
          <p:nvPr/>
        </p:nvGraphicFramePr>
        <p:xfrm>
          <a:off x="781200" y="2122200"/>
          <a:ext cx="4937760" cy="1265760"/>
        </p:xfrm>
        <a:graphic>
          <a:graphicData uri="http://schemas.openxmlformats.org/drawingml/2006/table">
            <a:tbl>
              <a:tblPr/>
              <a:tblGrid>
                <a:gridCol w="105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6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1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dyad_id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wnc_a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wnc_p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sat_a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sat_p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3.8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5.1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4.9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4.8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4.7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92" name="Google Shape;309;p20" descr="image.png"/>
          <p:cNvPicPr/>
          <p:nvPr/>
        </p:nvPicPr>
        <p:blipFill>
          <a:blip r:embed="rId12"/>
          <a:stretch/>
        </p:blipFill>
        <p:spPr>
          <a:xfrm>
            <a:off x="6462720" y="1560240"/>
            <a:ext cx="103680" cy="170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93" name="Google Shape;310;p20"/>
          <p:cNvGraphicFramePr/>
          <p:nvPr/>
        </p:nvGraphicFramePr>
        <p:xfrm>
          <a:off x="6472080" y="2122200"/>
          <a:ext cx="4938120" cy="2124000"/>
        </p:xfrm>
        <a:graphic>
          <a:graphicData uri="http://schemas.openxmlformats.org/drawingml/2006/table">
            <a:tbl>
              <a:tblPr/>
              <a:tblGrid>
                <a:gridCol w="144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2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4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dyad_id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role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wnc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sat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person_1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5.1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person_2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3.8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4.9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person_1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3.1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4.8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102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person_2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3.2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4.7</a:t>
                      </a:r>
                      <a:endParaRPr lang="en-GB" sz="9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4" name="SlideIndicator311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</a:t>
            </a:r>
            <a:r>
              <a:rPr lang="en-US" sz="1200" dirty="0">
                <a:solidFill>
                  <a:srgbClr val="64748B"/>
                </a:solidFill>
                <a:latin typeface="Inter"/>
                <a:ea typeface="Inter"/>
              </a:rPr>
              <a:t>9</a:t>
            </a: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lideIndicatorTop312"/>
          <p:cNvSpPr/>
          <p:nvPr/>
        </p:nvSpPr>
        <p:spPr>
          <a:xfrm>
            <a:off x="10686960" y="454867"/>
            <a:ext cx="932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</a:t>
            </a:r>
            <a:r>
              <a:rPr lang="en-US" sz="1200" dirty="0">
                <a:solidFill>
                  <a:srgbClr val="64748B"/>
                </a:solidFill>
                <a:latin typeface="Inter"/>
                <a:ea typeface="Inter"/>
              </a:rPr>
              <a:t>9</a:t>
            </a: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14;p18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Google Shape;216;p18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208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9" name="Google Shape;217;p18" descr="image.png"/>
          <p:cNvPicPr/>
          <p:nvPr/>
        </p:nvPicPr>
        <p:blipFill>
          <a:blip r:embed="rId4"/>
          <a:stretch/>
        </p:blipFill>
        <p:spPr>
          <a:xfrm>
            <a:off x="6500880" y="2084040"/>
            <a:ext cx="4880520" cy="60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Google Shape;218;p18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9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Google Shape;219;p18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oogle Shape;220;p18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Google Shape;221;p18"/>
          <p:cNvSpPr/>
          <p:nvPr/>
        </p:nvSpPr>
        <p:spPr>
          <a:xfrm>
            <a:off x="571680" y="428760"/>
            <a:ext cx="57423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222;p18"/>
          <p:cNvSpPr/>
          <p:nvPr/>
        </p:nvSpPr>
        <p:spPr>
          <a:xfrm>
            <a:off x="571680" y="619200"/>
            <a:ext cx="602964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Multilevel Modeling (Long Format)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223;p18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To handle indistinguishable datasets, format the file in long format (one row per person, two rows per dyad). Random effects adjust for nested interdependence.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224;p18"/>
          <p:cNvSpPr/>
          <p:nvPr/>
        </p:nvSpPr>
        <p:spPr>
          <a:xfrm>
            <a:off x="838080" y="23832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Empty Intercept-Only Model: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Compute the Intra-class Correlation (ICC) to estimate the proportion of shared variance.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225;p18"/>
          <p:cNvSpPr/>
          <p:nvPr/>
        </p:nvSpPr>
        <p:spPr>
          <a:xfrm>
            <a:off x="838080" y="298296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Specification: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Estimate both actor and partner paths symmetrically, pooling slope estimators across the dyad members.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226;p18"/>
          <p:cNvSpPr/>
          <p:nvPr/>
        </p:nvSpPr>
        <p:spPr>
          <a:xfrm>
            <a:off x="838080" y="38260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Centering Strategy: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Group-mean center independent variables to cleanly separate within-dyad from between-dyad effects.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227;p18"/>
          <p:cNvSpPr/>
          <p:nvPr/>
        </p:nvSpPr>
        <p:spPr>
          <a:xfrm>
            <a:off x="6729480" y="1607760"/>
            <a:ext cx="46519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MLM Formulation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228;p18"/>
          <p:cNvSpPr/>
          <p:nvPr/>
        </p:nvSpPr>
        <p:spPr>
          <a:xfrm>
            <a:off x="6500880" y="2808000"/>
            <a:ext cx="4880520" cy="41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4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Where </a:t>
            </a:r>
            <a:r>
              <a:rPr lang="en-US" sz="1130" b="0" i="1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i</a:t>
            </a: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 represents the individual, </a:t>
            </a:r>
            <a:r>
              <a:rPr lang="en-US" sz="1130" b="0" i="1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j</a:t>
            </a: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 represents the dyad, </a:t>
            </a:r>
            <a:r>
              <a:rPr lang="en-US" sz="1130" b="0" i="1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u_j</a:t>
            </a: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 represents the dyad-level random intercept, and </a:t>
            </a:r>
            <a:r>
              <a:rPr lang="en-US" sz="1130" b="0" i="1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e_ij</a:t>
            </a: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 is individual residual.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1" name="Google Shape;229;p18" descr="image.png"/>
          <p:cNvPicPr/>
          <p:nvPr/>
        </p:nvPicPr>
        <p:blipFill>
          <a:blip r:embed="rId7"/>
          <a:stretch/>
        </p:blipFill>
        <p:spPr>
          <a:xfrm>
            <a:off x="6481800" y="3807000"/>
            <a:ext cx="2181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Google Shape;230;p18"/>
          <p:cNvSpPr/>
          <p:nvPr/>
        </p:nvSpPr>
        <p:spPr>
          <a:xfrm>
            <a:off x="6815160" y="3787920"/>
            <a:ext cx="458532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Requires the lme4 package in R for model fitting, and lmerTest to compute Satterthwaite degrees of freedom.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Google Shape;231;p18" descr="image.png"/>
          <p:cNvPicPr/>
          <p:nvPr/>
        </p:nvPicPr>
        <p:blipFill>
          <a:blip r:embed="rId8"/>
          <a:stretch/>
        </p:blipFill>
        <p:spPr>
          <a:xfrm>
            <a:off x="6500880" y="1636200"/>
            <a:ext cx="13212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oogle Shape;233;p18" descr="image.png"/>
          <p:cNvPicPr/>
          <p:nvPr/>
        </p:nvPicPr>
        <p:blipFill>
          <a:blip r:embed="rId9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Google Shape;234;p18" descr="image.png"/>
          <p:cNvPicPr/>
          <p:nvPr/>
        </p:nvPicPr>
        <p:blipFill>
          <a:blip r:embed="rId9"/>
          <a:stretch/>
        </p:blipFill>
        <p:spPr>
          <a:xfrm>
            <a:off x="571680" y="30117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Google Shape;235;p18" descr="image.png"/>
          <p:cNvPicPr/>
          <p:nvPr/>
        </p:nvPicPr>
        <p:blipFill>
          <a:blip r:embed="rId9"/>
          <a:stretch/>
        </p:blipFill>
        <p:spPr>
          <a:xfrm>
            <a:off x="571680" y="38545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SlideIndicator236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10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lideIndicatorTop237"/>
          <p:cNvSpPr/>
          <p:nvPr/>
        </p:nvSpPr>
        <p:spPr>
          <a:xfrm>
            <a:off x="10686960" y="454867"/>
            <a:ext cx="932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10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367;p22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Google Shape;371;p22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8" name="Google Shape;372;p22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Google Shape;373;p22"/>
          <p:cNvSpPr/>
          <p:nvPr/>
        </p:nvSpPr>
        <p:spPr>
          <a:xfrm>
            <a:off x="571680" y="428760"/>
            <a:ext cx="50853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374;p22"/>
          <p:cNvSpPr/>
          <p:nvPr/>
        </p:nvSpPr>
        <p:spPr>
          <a:xfrm>
            <a:off x="571680" y="619200"/>
            <a:ext cx="533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 Code: Indistinguishable MLM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375;p22"/>
          <p:cNvSpPr/>
          <p:nvPr/>
        </p:nvSpPr>
        <p:spPr>
          <a:xfrm>
            <a:off x="571680" y="1369800"/>
            <a:ext cx="53568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estimate the basic APIM framework step-by-step using lmer. Ensure your package environment is properly configured: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388;p22"/>
          <p:cNvSpPr/>
          <p:nvPr/>
        </p:nvSpPr>
        <p:spPr>
          <a:xfrm>
            <a:off x="838080" y="2108880"/>
            <a:ext cx="5090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Loads data in </a:t>
            </a: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long format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(one row per partner).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389;p22"/>
          <p:cNvSpPr/>
          <p:nvPr/>
        </p:nvSpPr>
        <p:spPr>
          <a:xfrm>
            <a:off x="838080" y="2466000"/>
            <a:ext cx="5090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Calculates the **ICC** to verify within-dyad correlation.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390;p22"/>
          <p:cNvSpPr/>
          <p:nvPr/>
        </p:nvSpPr>
        <p:spPr>
          <a:xfrm>
            <a:off x="838080" y="282312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Includes covariates: Recovery, Children status, and Dual-Earner category.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Google Shape;391;p22" descr="image.png"/>
          <p:cNvPicPr/>
          <p:nvPr/>
        </p:nvPicPr>
        <p:blipFill>
          <a:blip r:embed="rId5"/>
          <a:stretch/>
        </p:blipFill>
        <p:spPr>
          <a:xfrm>
            <a:off x="790560" y="3699360"/>
            <a:ext cx="752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Google Shape;392;p22"/>
          <p:cNvSpPr/>
          <p:nvPr/>
        </p:nvSpPr>
        <p:spPr>
          <a:xfrm>
            <a:off x="981000" y="3680280"/>
            <a:ext cx="4728240" cy="5525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Note:</a:t>
            </a:r>
            <a:r>
              <a:rPr lang="en-US" sz="1280" b="0" u="none" strike="noStrike" dirty="0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 In indistinguishable setups, slope estimates are pooled across groups.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Google Shape;394;p22" descr="image.png"/>
          <p:cNvPicPr/>
          <p:nvPr/>
        </p:nvPicPr>
        <p:blipFill>
          <a:blip r:embed="rId6"/>
          <a:stretch/>
        </p:blipFill>
        <p:spPr>
          <a:xfrm>
            <a:off x="571680" y="2137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Google Shape;395;p22" descr="image.png"/>
          <p:cNvPicPr/>
          <p:nvPr/>
        </p:nvPicPr>
        <p:blipFill>
          <a:blip r:embed="rId6"/>
          <a:stretch/>
        </p:blipFill>
        <p:spPr>
          <a:xfrm>
            <a:off x="571680" y="24944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Google Shape;396;p22" descr="image.png"/>
          <p:cNvPicPr/>
          <p:nvPr/>
        </p:nvPicPr>
        <p:blipFill>
          <a:blip r:embed="rId6"/>
          <a:stretch/>
        </p:blipFill>
        <p:spPr>
          <a:xfrm>
            <a:off x="571680" y="28515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CodeAreaBg398"/>
          <p:cNvSpPr/>
          <p:nvPr/>
        </p:nvSpPr>
        <p:spPr>
          <a:xfrm>
            <a:off x="6262560" y="1369800"/>
            <a:ext cx="5356800" cy="40021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odeBlock397"/>
          <p:cNvSpPr/>
          <p:nvPr/>
        </p:nvSpPr>
        <p:spPr>
          <a:xfrm>
            <a:off x="6462720" y="1619640"/>
            <a:ext cx="4956840" cy="360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Indistinguishable MLM (script 02)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library(lme4); library(lmerTest)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load("dyad_data.RData")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1. Null model + ICC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m0 &lt;- lmer(sat ~ 1 + (1 | dyad), data=ddl)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icc(m0)  # between / (between + residual)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2. Full APIM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m1 &lt;- lmer(sat ~ wnc + partner_wnc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recovery + has_children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dual_earner + (1 | dyad), data=ddl)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summary(m1)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lideIndicator399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11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lideIndicatorTop400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11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401;p23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5" name="Google Shape;403;p23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76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Google Shape;405;p23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12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Google Shape;406;p23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8" name="Google Shape;407;p23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Google Shape;408;p23"/>
          <p:cNvSpPr/>
          <p:nvPr/>
        </p:nvSpPr>
        <p:spPr>
          <a:xfrm>
            <a:off x="571680" y="428760"/>
            <a:ext cx="56854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Google Shape;409;p23"/>
          <p:cNvSpPr/>
          <p:nvPr/>
        </p:nvSpPr>
        <p:spPr>
          <a:xfrm>
            <a:off x="571680" y="619200"/>
            <a:ext cx="596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Hands-On: Indistinguishable MLM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410;p23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Active Code Session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411;p23"/>
          <p:cNvSpPr/>
          <p:nvPr/>
        </p:nvSpPr>
        <p:spPr>
          <a:xfrm>
            <a:off x="809640" y="1998360"/>
            <a:ext cx="488052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Let's execute your first multilevel APIM scripts in RStudio: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Google Shape;413;p23" descr="image.png"/>
          <p:cNvPicPr/>
          <p:nvPr/>
        </p:nvPicPr>
        <p:blipFill>
          <a:blip r:embed="rId6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Google Shape;414;p23"/>
          <p:cNvSpPr/>
          <p:nvPr/>
        </p:nvSpPr>
        <p:spPr>
          <a:xfrm>
            <a:off x="1076400" y="234108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Open: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scripts/02_indistinguishable_mlm.R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415;p23"/>
          <p:cNvSpPr/>
          <p:nvPr/>
        </p:nvSpPr>
        <p:spPr>
          <a:xfrm>
            <a:off x="1076400" y="269856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Run: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Estimate the null model and compute the ICC: </a:t>
            </a:r>
            <a:br>
              <a:rPr sz="1800"/>
            </a:b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ICC = σ²_between / (σ²_between + σ²_residual)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416;p23"/>
          <p:cNvSpPr/>
          <p:nvPr/>
        </p:nvSpPr>
        <p:spPr>
          <a:xfrm>
            <a:off x="1076400" y="3298320"/>
            <a:ext cx="4613760" cy="259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Run the full APIM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Google Shape;422;p23" descr="image.png"/>
          <p:cNvPicPr/>
          <p:nvPr/>
        </p:nvPicPr>
        <p:blipFill>
          <a:blip r:embed="rId7"/>
          <a:stretch/>
        </p:blipFill>
        <p:spPr>
          <a:xfrm>
            <a:off x="809640" y="2369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Google Shape;423;p23" descr="image.png"/>
          <p:cNvPicPr/>
          <p:nvPr/>
        </p:nvPicPr>
        <p:blipFill>
          <a:blip r:embed="rId7"/>
          <a:stretch/>
        </p:blipFill>
        <p:spPr>
          <a:xfrm>
            <a:off x="809640" y="2727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Google Shape;424;p23" descr="image.png"/>
          <p:cNvPicPr/>
          <p:nvPr/>
        </p:nvPicPr>
        <p:blipFill>
          <a:blip r:embed="rId7"/>
          <a:stretch/>
        </p:blipFill>
        <p:spPr>
          <a:xfrm>
            <a:off x="809640" y="3327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SlideIndicator425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12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lideIndicatorTop426"/>
          <p:cNvSpPr/>
          <p:nvPr/>
        </p:nvSpPr>
        <p:spPr>
          <a:xfrm>
            <a:off x="10658520" y="428760"/>
            <a:ext cx="9608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12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432;p24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3" name="Google Shape;434;p24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391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Google Shape;437;p24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13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Google Shape;438;p24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6" name="Google Shape;439;p24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Google Shape;440;p24"/>
          <p:cNvSpPr/>
          <p:nvPr/>
        </p:nvSpPr>
        <p:spPr>
          <a:xfrm>
            <a:off x="571680" y="428760"/>
            <a:ext cx="48852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441;p24"/>
          <p:cNvSpPr/>
          <p:nvPr/>
        </p:nvSpPr>
        <p:spPr>
          <a:xfrm>
            <a:off x="571680" y="619200"/>
            <a:ext cx="512964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Structural Equation Modeling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442;p24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specify explicit path lines inside wide-format data (one row per dyad with distinct suffix labels _a / _p). Equality constraints are declared to enforce indistinguishability: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443;p24"/>
          <p:cNvSpPr/>
          <p:nvPr/>
        </p:nvSpPr>
        <p:spPr>
          <a:xfrm>
            <a:off x="838080" y="23832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Slope Constraints: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Own paths (b_a) and partner paths (b_p) are labeled identically.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444;p24"/>
          <p:cNvSpPr/>
          <p:nvPr/>
        </p:nvSpPr>
        <p:spPr>
          <a:xfrm>
            <a:off x="838080" y="29829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Interceptions/Variances: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Model intercepts, variances, and residuals are restricted to equality.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2" name="Google Shape;447;p24" descr="image.png"/>
          <p:cNvPicPr/>
          <p:nvPr/>
        </p:nvPicPr>
        <p:blipFill>
          <a:blip r:embed="rId6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3" name="Google Shape;448;p24" descr="image.png"/>
          <p:cNvPicPr/>
          <p:nvPr/>
        </p:nvPicPr>
        <p:blipFill>
          <a:blip r:embed="rId6"/>
          <a:stretch/>
        </p:blipFill>
        <p:spPr>
          <a:xfrm>
            <a:off x="571680" y="30117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SlideIndicator450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13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lideIndicatorTop451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13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454;p25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7" name="Google Shape;458;p25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Google Shape;459;p25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Google Shape;460;p25"/>
          <p:cNvSpPr/>
          <p:nvPr/>
        </p:nvSpPr>
        <p:spPr>
          <a:xfrm>
            <a:off x="571680" y="428760"/>
            <a:ext cx="49996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461;p25"/>
          <p:cNvSpPr/>
          <p:nvPr/>
        </p:nvSpPr>
        <p:spPr>
          <a:xfrm>
            <a:off x="571680" y="619200"/>
            <a:ext cx="524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 Code: Indistinguishable SEM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462;p25"/>
          <p:cNvSpPr/>
          <p:nvPr/>
        </p:nvSpPr>
        <p:spPr>
          <a:xfrm>
            <a:off x="571680" y="1369800"/>
            <a:ext cx="53568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write structural code using lavaan syntax. Suffix tags label identical parameters across equations to enforce symmetry: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476;p25"/>
          <p:cNvSpPr/>
          <p:nvPr/>
        </p:nvSpPr>
        <p:spPr>
          <a:xfrm>
            <a:off x="838080" y="21088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Label Syntax: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Prefixing coefficients with label names (e.g. a_wnc*wnc_a) forces equality.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477;p25"/>
          <p:cNvSpPr/>
          <p:nvPr/>
        </p:nvSpPr>
        <p:spPr>
          <a:xfrm>
            <a:off x="838080" y="27090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Interceptions &amp; Variances: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Restricting intercepts (alpha*1) and residuals (var_res*sat_a) establishes full indistinguishability.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Google Shape;479;p25" descr="image.png"/>
          <p:cNvPicPr/>
          <p:nvPr/>
        </p:nvPicPr>
        <p:blipFill>
          <a:blip r:embed="rId5"/>
          <a:stretch/>
        </p:blipFill>
        <p:spPr>
          <a:xfrm>
            <a:off x="571680" y="2137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Google Shape;480;p25" descr="image.png"/>
          <p:cNvPicPr/>
          <p:nvPr/>
        </p:nvPicPr>
        <p:blipFill>
          <a:blip r:embed="rId5"/>
          <a:stretch/>
        </p:blipFill>
        <p:spPr>
          <a:xfrm>
            <a:off x="571680" y="27374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CodeAreaBg482"/>
          <p:cNvSpPr/>
          <p:nvPr/>
        </p:nvSpPr>
        <p:spPr>
          <a:xfrm>
            <a:off x="6262560" y="1369800"/>
            <a:ext cx="5356800" cy="48027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odeBlock481"/>
          <p:cNvSpPr/>
          <p:nvPr/>
        </p:nvSpPr>
        <p:spPr>
          <a:xfrm>
            <a:off x="6462720" y="1619640"/>
            <a:ext cx="4956840" cy="440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Indistinguishable SEM wide (script 03)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lavaan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mod_c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&lt;- '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a_rec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rec_a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p_rec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rec_p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c_ch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*child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c_du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dual_earner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a_rec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rec_p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p_rec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rec_a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c_ch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*child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c_du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dual_earner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alpha*1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alpha*1       # equal intercepts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var_res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var_res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# equal residuals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'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 &lt;-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sem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mod_c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 data=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ddw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lideIndicator48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14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lideIndicatorTop48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14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485;p26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1" name="Google Shape;487;p26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41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2" name="Google Shape;488;p26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41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Google Shape;489;p26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15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4" name="Google Shape;490;p26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5" name="Google Shape;491;p26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Google Shape;492;p26"/>
          <p:cNvSpPr/>
          <p:nvPr/>
        </p:nvSpPr>
        <p:spPr>
          <a:xfrm>
            <a:off x="571680" y="428760"/>
            <a:ext cx="55998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493;p26"/>
          <p:cNvSpPr/>
          <p:nvPr/>
        </p:nvSpPr>
        <p:spPr>
          <a:xfrm>
            <a:off x="571680" y="619200"/>
            <a:ext cx="587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Hands-On: Indistinguishable SEM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494;p26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Active Coding Session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495;p26"/>
          <p:cNvSpPr/>
          <p:nvPr/>
        </p:nvSpPr>
        <p:spPr>
          <a:xfrm>
            <a:off x="809640" y="199836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Let's transition from multilevel modeling to structural equation modeling: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496;p26"/>
          <p:cNvSpPr/>
          <p:nvPr/>
        </p:nvSpPr>
        <p:spPr>
          <a:xfrm>
            <a:off x="6767640" y="1636200"/>
            <a:ext cx="4613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Questions to Explore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Google Shape;497;p26"/>
          <p:cNvSpPr/>
          <p:nvPr/>
        </p:nvSpPr>
        <p:spPr>
          <a:xfrm>
            <a:off x="6500880" y="1998360"/>
            <a:ext cx="4880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Compare the parameter values from Model A (cluster-robust) with Model B (two-level SEM) to Model C (wide-format constraint).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2" name="Google Shape;498;p26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Google Shape;499;p26"/>
          <p:cNvSpPr/>
          <p:nvPr/>
        </p:nvSpPr>
        <p:spPr>
          <a:xfrm>
            <a:off x="1076400" y="256968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Open: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scripts/03_indistinguishable_sem.R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500;p26"/>
          <p:cNvSpPr/>
          <p:nvPr/>
        </p:nvSpPr>
        <p:spPr>
          <a:xfrm>
            <a:off x="1076400" y="2945880"/>
            <a:ext cx="4613760" cy="43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Evaluate: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Review the three alternative analytical paradigms defined in the script: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5" name="Google Shape;501;p26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oogle Shape;502;p26" descr="image.png"/>
          <p:cNvPicPr/>
          <p:nvPr/>
        </p:nvPicPr>
        <p:blipFill>
          <a:blip r:embed="rId9"/>
          <a:stretch/>
        </p:blipFill>
        <p:spPr>
          <a:xfrm>
            <a:off x="6719760" y="4669920"/>
            <a:ext cx="14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Google Shape;503;p26"/>
          <p:cNvSpPr/>
          <p:nvPr/>
        </p:nvSpPr>
        <p:spPr>
          <a:xfrm>
            <a:off x="6977160" y="4651200"/>
            <a:ext cx="4185000" cy="42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How does structural estimation impact statistical precision in small-to-medium samples?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Google Shape;504;p26"/>
          <p:cNvSpPr/>
          <p:nvPr/>
        </p:nvSpPr>
        <p:spPr>
          <a:xfrm>
            <a:off x="1486080" y="3460320"/>
            <a:ext cx="420408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A: Cluster-robust Standard Errors (quick, long format)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Google Shape;505;p26"/>
          <p:cNvSpPr/>
          <p:nvPr/>
        </p:nvSpPr>
        <p:spPr>
          <a:xfrm>
            <a:off x="1486080" y="4060440"/>
            <a:ext cx="420408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B: Two-level SEM (within/between decomposition)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Google Shape;507;p26" descr="image.png"/>
          <p:cNvPicPr/>
          <p:nvPr/>
        </p:nvPicPr>
        <p:blipFill>
          <a:blip r:embed="rId10"/>
          <a:stretch/>
        </p:blipFill>
        <p:spPr>
          <a:xfrm>
            <a:off x="809640" y="25984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Google Shape;508;p26" descr="image.png"/>
          <p:cNvPicPr/>
          <p:nvPr/>
        </p:nvPicPr>
        <p:blipFill>
          <a:blip r:embed="rId10"/>
          <a:stretch/>
        </p:blipFill>
        <p:spPr>
          <a:xfrm>
            <a:off x="809640" y="29556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Google Shape;509;p26"/>
          <p:cNvSpPr/>
          <p:nvPr/>
        </p:nvSpPr>
        <p:spPr>
          <a:xfrm>
            <a:off x="1486080" y="4660560"/>
            <a:ext cx="420408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C: Wide-format APIM (primary, with full equality constraints)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3" name="Google Shape;510;p26" descr="image.png"/>
          <p:cNvPicPr/>
          <p:nvPr/>
        </p:nvPicPr>
        <p:blipFill>
          <a:blip r:embed="rId10"/>
          <a:stretch/>
        </p:blipFill>
        <p:spPr>
          <a:xfrm>
            <a:off x="1219320" y="3489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4" name="Google Shape;511;p26" descr="image.png"/>
          <p:cNvPicPr/>
          <p:nvPr/>
        </p:nvPicPr>
        <p:blipFill>
          <a:blip r:embed="rId10"/>
          <a:stretch/>
        </p:blipFill>
        <p:spPr>
          <a:xfrm>
            <a:off x="1219320" y="4088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5" name="Google Shape;512;p26" descr="image.png"/>
          <p:cNvPicPr/>
          <p:nvPr/>
        </p:nvPicPr>
        <p:blipFill>
          <a:blip r:embed="rId10"/>
          <a:stretch/>
        </p:blipFill>
        <p:spPr>
          <a:xfrm>
            <a:off x="1219320" y="4689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SlideIndicator51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lideIndicatorTop51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517;p27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Google Shape;519;p27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3555000" cy="515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Google Shape;520;p27" descr="image.png"/>
          <p:cNvPicPr/>
          <p:nvPr/>
        </p:nvPicPr>
        <p:blipFill>
          <a:blip r:embed="rId4"/>
          <a:stretch/>
        </p:blipFill>
        <p:spPr>
          <a:xfrm>
            <a:off x="4317840" y="1369800"/>
            <a:ext cx="3555000" cy="515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1" name="Google Shape;521;p27" descr="image.png"/>
          <p:cNvPicPr/>
          <p:nvPr/>
        </p:nvPicPr>
        <p:blipFill>
          <a:blip r:embed="rId5"/>
          <a:stretch/>
        </p:blipFill>
        <p:spPr>
          <a:xfrm>
            <a:off x="8064360" y="1369800"/>
            <a:ext cx="3555000" cy="515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Google Shape;522;p27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16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Google Shape;523;p27" descr="image.png"/>
          <p:cNvPicPr/>
          <p:nvPr/>
        </p:nvPicPr>
        <p:blipFill>
          <a:blip r:embed="rId6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4" name="Google Shape;524;p27" descr="image.png"/>
          <p:cNvPicPr/>
          <p:nvPr/>
        </p:nvPicPr>
        <p:blipFill>
          <a:blip r:embed="rId7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Google Shape;525;p27"/>
          <p:cNvSpPr/>
          <p:nvPr/>
        </p:nvSpPr>
        <p:spPr>
          <a:xfrm>
            <a:off x="571680" y="428760"/>
            <a:ext cx="40280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EAOHP 2026 WORKSHOP • INDISTINGUISHABLE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Google Shape;526;p27"/>
          <p:cNvSpPr/>
          <p:nvPr/>
        </p:nvSpPr>
        <p:spPr>
          <a:xfrm>
            <a:off x="571680" y="619200"/>
            <a:ext cx="42292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Core Analytical Insights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Google Shape;527;p27"/>
          <p:cNvSpPr/>
          <p:nvPr/>
        </p:nvSpPr>
        <p:spPr>
          <a:xfrm>
            <a:off x="1076400" y="1607760"/>
            <a:ext cx="28119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Method Convergence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Google Shape;528;p27"/>
          <p:cNvSpPr/>
          <p:nvPr/>
        </p:nvSpPr>
        <p:spPr>
          <a:xfrm>
            <a:off x="809640" y="1969920"/>
            <a:ext cx="307872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Balanced data profiles yield identical point estimates in both **Multilevel (long)** and **SEM (wide with equal constraints)** designs.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Google Shape;529;p27"/>
          <p:cNvSpPr/>
          <p:nvPr/>
        </p:nvSpPr>
        <p:spPr>
          <a:xfrm>
            <a:off x="4803840" y="1607760"/>
            <a:ext cx="28310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LRT Testing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530;p27"/>
          <p:cNvSpPr/>
          <p:nvPr/>
        </p:nvSpPr>
        <p:spPr>
          <a:xfrm>
            <a:off x="4556160" y="1969920"/>
            <a:ext cx="307872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Perform a Chi-Square Difference Test comparing the fully constrained model with an unconstrained version to empirically test for indistinguishability.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Google Shape;531;p27"/>
          <p:cNvSpPr/>
          <p:nvPr/>
        </p:nvSpPr>
        <p:spPr>
          <a:xfrm>
            <a:off x="8569080" y="1607760"/>
            <a:ext cx="28119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Analytical Trade-offs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Google Shape;532;p27"/>
          <p:cNvSpPr/>
          <p:nvPr/>
        </p:nvSpPr>
        <p:spPr>
          <a:xfrm>
            <a:off x="8302680" y="1969920"/>
            <a:ext cx="3078720" cy="4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Why choose SEM over Multilevel for indistinguishable dyads?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Google Shape;533;p27" descr="image.png"/>
          <p:cNvPicPr/>
          <p:nvPr/>
        </p:nvPicPr>
        <p:blipFill>
          <a:blip r:embed="rId8"/>
          <a:stretch/>
        </p:blipFill>
        <p:spPr>
          <a:xfrm>
            <a:off x="809640" y="16362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Google Shape;534;p27" descr="image.png"/>
          <p:cNvPicPr/>
          <p:nvPr/>
        </p:nvPicPr>
        <p:blipFill>
          <a:blip r:embed="rId9"/>
          <a:stretch/>
        </p:blipFill>
        <p:spPr>
          <a:xfrm>
            <a:off x="4556160" y="1636200"/>
            <a:ext cx="15120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5" name="Google Shape;535;p27" descr="image.png"/>
          <p:cNvPicPr/>
          <p:nvPr/>
        </p:nvPicPr>
        <p:blipFill>
          <a:blip r:embed="rId10"/>
          <a:stretch/>
        </p:blipFill>
        <p:spPr>
          <a:xfrm>
            <a:off x="8302680" y="16362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Google Shape;536;p27"/>
          <p:cNvSpPr/>
          <p:nvPr/>
        </p:nvSpPr>
        <p:spPr>
          <a:xfrm>
            <a:off x="8569080" y="2537280"/>
            <a:ext cx="28119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Supports multi-item latent variables.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537;p27"/>
          <p:cNvSpPr/>
          <p:nvPr/>
        </p:nvSpPr>
        <p:spPr>
          <a:xfrm>
            <a:off x="8569080" y="3930840"/>
            <a:ext cx="28119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Supports full mediation models.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Google Shape;538;p27"/>
          <p:cNvSpPr/>
          <p:nvPr/>
        </p:nvSpPr>
        <p:spPr>
          <a:xfrm>
            <a:off x="8569080" y="3251880"/>
            <a:ext cx="28119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FIML retains dyads with partial missing values.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Google Shape;540;p27" descr="image.png"/>
          <p:cNvPicPr/>
          <p:nvPr/>
        </p:nvPicPr>
        <p:blipFill>
          <a:blip r:embed="rId11"/>
          <a:stretch/>
        </p:blipFill>
        <p:spPr>
          <a:xfrm>
            <a:off x="8302680" y="2566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Google Shape;542;p27" descr="image.png"/>
          <p:cNvPicPr/>
          <p:nvPr/>
        </p:nvPicPr>
        <p:blipFill>
          <a:blip r:embed="rId11"/>
          <a:stretch/>
        </p:blipFill>
        <p:spPr>
          <a:xfrm>
            <a:off x="8302680" y="3280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SlideIndicator54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16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lideIndicatorTop54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16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547;p28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5" name="Google Shape;549;p28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306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6" name="Google Shape;550;p28" descr="image.png"/>
          <p:cNvPicPr/>
          <p:nvPr/>
        </p:nvPicPr>
        <p:blipFill>
          <a:blip r:embed="rId4"/>
          <a:stretch/>
        </p:blipFill>
        <p:spPr>
          <a:xfrm>
            <a:off x="571680" y="2383200"/>
            <a:ext cx="5356800" cy="86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Google Shape;551;p28" descr="image.png"/>
          <p:cNvPicPr/>
          <p:nvPr/>
        </p:nvPicPr>
        <p:blipFill>
          <a:blip r:embed="rId5"/>
          <a:stretch/>
        </p:blipFill>
        <p:spPr>
          <a:xfrm>
            <a:off x="571680" y="3392640"/>
            <a:ext cx="5356800" cy="104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Google Shape;552;p28" descr="image.png"/>
          <p:cNvPicPr/>
          <p:nvPr/>
        </p:nvPicPr>
        <p:blipFill>
          <a:blip r:embed="rId6"/>
          <a:stretch/>
        </p:blipFill>
        <p:spPr>
          <a:xfrm>
            <a:off x="723960" y="2821320"/>
            <a:ext cx="5051880" cy="27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Google Shape;553;p28" descr="image.png"/>
          <p:cNvPicPr/>
          <p:nvPr/>
        </p:nvPicPr>
        <p:blipFill>
          <a:blip r:embed="rId7"/>
          <a:stretch/>
        </p:blipFill>
        <p:spPr>
          <a:xfrm>
            <a:off x="723960" y="3830760"/>
            <a:ext cx="505188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Google Shape;554;p28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17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Google Shape;555;p28" descr="image.png"/>
          <p:cNvPicPr/>
          <p:nvPr/>
        </p:nvPicPr>
        <p:blipFill>
          <a:blip r:embed="rId8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Google Shape;556;p28" descr="image.png"/>
          <p:cNvPicPr/>
          <p:nvPr/>
        </p:nvPicPr>
        <p:blipFill>
          <a:blip r:embed="rId9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Google Shape;557;p28"/>
          <p:cNvSpPr/>
          <p:nvPr/>
        </p:nvSpPr>
        <p:spPr>
          <a:xfrm>
            <a:off x="571680" y="428760"/>
            <a:ext cx="53424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558;p28"/>
          <p:cNvSpPr/>
          <p:nvPr/>
        </p:nvSpPr>
        <p:spPr>
          <a:xfrm>
            <a:off x="571680" y="619200"/>
            <a:ext cx="560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Moderator Interaction Modeling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559;p28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When dyad members are distinguishable (e.g. heterosexual couples), we can model interactions between predictors and the grouping factor (e.g. gender) in long format.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Google Shape;560;p28"/>
          <p:cNvSpPr/>
          <p:nvPr/>
        </p:nvSpPr>
        <p:spPr>
          <a:xfrm>
            <a:off x="6767640" y="1948284"/>
            <a:ext cx="4613760" cy="2308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Warning for crossover effects</a:t>
            </a:r>
            <a:endParaRPr lang="en-GB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Google Shape;561;p28"/>
          <p:cNvSpPr/>
          <p:nvPr/>
        </p:nvSpPr>
        <p:spPr>
          <a:xfrm>
            <a:off x="6500880" y="2311920"/>
            <a:ext cx="4880520" cy="73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F1239"/>
                </a:solidFill>
                <a:effectLst/>
                <a:uFillTx/>
                <a:latin typeface="Inter"/>
                <a:ea typeface="Inter"/>
              </a:rPr>
              <a:t>Simple moderator setups (Version A) conflate actor and partner pathways. This can lead to misleading conclusions when evaluating crossover effects.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Google Shape;562;p28"/>
          <p:cNvSpPr/>
          <p:nvPr/>
        </p:nvSpPr>
        <p:spPr>
          <a:xfrm>
            <a:off x="6500880" y="3157560"/>
            <a:ext cx="4880520" cy="73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F1239"/>
                </a:solidFill>
                <a:effectLst/>
                <a:uFillTx/>
                <a:latin typeface="Inter"/>
                <a:ea typeface="Inter"/>
              </a:rPr>
              <a:t>Always specify the **Full APIM Moderator** (Version B) to properly separate actor from partner pathways when using the moderator approach in long format.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Google Shape;563;p28" descr="image.png"/>
          <p:cNvPicPr/>
          <p:nvPr/>
        </p:nvPicPr>
        <p:blipFill>
          <a:blip r:embed="rId10"/>
          <a:stretch/>
        </p:blipFill>
        <p:spPr>
          <a:xfrm>
            <a:off x="6500880" y="19782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Google Shape;564;p28"/>
          <p:cNvSpPr/>
          <p:nvPr/>
        </p:nvSpPr>
        <p:spPr>
          <a:xfrm>
            <a:off x="723960" y="2535480"/>
            <a:ext cx="530460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Version A: Simple Moderator (Conflated)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Google Shape;565;p28"/>
          <p:cNvSpPr/>
          <p:nvPr/>
        </p:nvSpPr>
        <p:spPr>
          <a:xfrm>
            <a:off x="723960" y="3544920"/>
            <a:ext cx="530460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Version B: Full APIM Moderator (Decomposed)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IndicatorTop544">
            <a:extLst>
              <a:ext uri="{FF2B5EF4-FFF2-40B4-BE49-F238E27FC236}">
                <a16:creationId xmlns:a16="http://schemas.microsoft.com/office/drawing/2014/main" id="{B5E1FF87-0254-DAFD-BDD3-211F90FB62BE}"/>
              </a:ext>
            </a:extLst>
          </p:cNvPr>
          <p:cNvSpPr/>
          <p:nvPr/>
        </p:nvSpPr>
        <p:spPr>
          <a:xfrm>
            <a:off x="10630080" y="454867"/>
            <a:ext cx="98964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17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571;p29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Google Shape;575;p29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Google Shape;576;p29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Google Shape;577;p29"/>
          <p:cNvSpPr/>
          <p:nvPr/>
        </p:nvSpPr>
        <p:spPr>
          <a:xfrm>
            <a:off x="571680" y="428760"/>
            <a:ext cx="38851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578;p29"/>
          <p:cNvSpPr/>
          <p:nvPr/>
        </p:nvSpPr>
        <p:spPr>
          <a:xfrm>
            <a:off x="571680" y="619200"/>
            <a:ext cx="407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 Code: Moderator MLM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Google Shape;579;p29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write the interaction script for Version B using lmer. This model evaluates if actor and partner effects differ significantly by gender: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590;p29"/>
          <p:cNvSpPr/>
          <p:nvPr/>
        </p:nvSpPr>
        <p:spPr>
          <a:xfrm>
            <a:off x="838080" y="23832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Reference Group: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Male is set as the reference group (simple slope = b_wnc).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591;p29"/>
          <p:cNvSpPr/>
          <p:nvPr/>
        </p:nvSpPr>
        <p:spPr>
          <a:xfrm>
            <a:off x="838080" y="2982960"/>
            <a:ext cx="5090040" cy="11379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Interaction Term: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Estimates the difference in slopes (female simple slope = </a:t>
            </a:r>
            <a:r>
              <a:rPr lang="en-US" sz="1280" b="0" u="none" strike="noStrike" dirty="0" err="1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b_wnc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+ </a:t>
            </a:r>
            <a:r>
              <a:rPr lang="en-US" sz="1280" b="0" u="none" strike="noStrike" dirty="0" err="1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b_wnc:genderfemale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).</a:t>
            </a: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endParaRPr lang="en-US" sz="1280" dirty="0">
              <a:solidFill>
                <a:srgbClr val="334155"/>
              </a:solidFill>
              <a:latin typeface="Inter"/>
              <a:ea typeface="Inter"/>
            </a:endParaRP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See script 04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2" name="Google Shape;593;p29" descr="image.png"/>
          <p:cNvPicPr/>
          <p:nvPr/>
        </p:nvPicPr>
        <p:blipFill>
          <a:blip r:embed="rId5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3" name="Google Shape;594;p29" descr="image.png"/>
          <p:cNvPicPr/>
          <p:nvPr/>
        </p:nvPicPr>
        <p:blipFill>
          <a:blip r:embed="rId5"/>
          <a:stretch/>
        </p:blipFill>
        <p:spPr>
          <a:xfrm>
            <a:off x="571680" y="30117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CodeAreaBg596"/>
          <p:cNvSpPr/>
          <p:nvPr/>
        </p:nvSpPr>
        <p:spPr>
          <a:xfrm>
            <a:off x="6262560" y="1369800"/>
            <a:ext cx="5356800" cy="50029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CodeBlock595"/>
          <p:cNvSpPr/>
          <p:nvPr/>
        </p:nvSpPr>
        <p:spPr>
          <a:xfrm>
            <a:off x="6462720" y="1619640"/>
            <a:ext cx="4956840" cy="25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Distinguishable: MLM Moderator (script 04)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library(lme4); library(lmerTest)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load("dyad_data.RData")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Baseline (no interactions)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m_base &lt;- lmer(sat ~ wnc + partner_wnc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rec + p_rec + child + dual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(1 | dyad), data=ddl)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Full APIM with gender interactions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m_mod  &lt;- lmer(sat ~ wnc*gender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partner_wnc*gender + rec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p_rec + child + dual +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(1 | dyad), data=ddl)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summary(m_mod)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anova(m_base, m_mod)  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SlideIndicator597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lideIndicatorTop598"/>
          <p:cNvSpPr/>
          <p:nvPr/>
        </p:nvSpPr>
        <p:spPr>
          <a:xfrm>
            <a:off x="10639440" y="428760"/>
            <a:ext cx="97992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599;p3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9" name="Google Shape;601;p3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0" name="Google Shape;602;p3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Google Shape;603;p3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19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Google Shape;604;p30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Google Shape;605;p30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Google Shape;606;p30"/>
          <p:cNvSpPr/>
          <p:nvPr/>
        </p:nvSpPr>
        <p:spPr>
          <a:xfrm>
            <a:off x="571680" y="428760"/>
            <a:ext cx="45709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607;p30"/>
          <p:cNvSpPr/>
          <p:nvPr/>
        </p:nvSpPr>
        <p:spPr>
          <a:xfrm>
            <a:off x="571680" y="619200"/>
            <a:ext cx="479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Hands-On: Moderator APIM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Google Shape;608;p30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Active Coding Session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Google Shape;609;p30"/>
          <p:cNvSpPr/>
          <p:nvPr/>
        </p:nvSpPr>
        <p:spPr>
          <a:xfrm>
            <a:off x="809640" y="1998360"/>
            <a:ext cx="488052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Let's practice modeling interaction terms in distinguishable dyads: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610;p30"/>
          <p:cNvSpPr/>
          <p:nvPr/>
        </p:nvSpPr>
        <p:spPr>
          <a:xfrm>
            <a:off x="681516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Inter"/>
                <a:ea typeface="Inter"/>
              </a:rPr>
              <a:t>Theoretical RQ Example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611;p30"/>
          <p:cNvSpPr/>
          <p:nvPr/>
        </p:nvSpPr>
        <p:spPr>
          <a:xfrm>
            <a:off x="6500880" y="1998360"/>
            <a:ext cx="4880520" cy="103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"Does gender moderate the crossover of work-family connection between spouses, such that the crossover effect of partner connection on relationship satisfaction is stronger for females than for males?"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0" name="Google Shape;612;p30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Google Shape;613;p30"/>
          <p:cNvSpPr/>
          <p:nvPr/>
        </p:nvSpPr>
        <p:spPr>
          <a:xfrm>
            <a:off x="1076400" y="2341080"/>
            <a:ext cx="4613760" cy="259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Open: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scripts/04_distinguishable_mlm.R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614;p30"/>
          <p:cNvSpPr/>
          <p:nvPr/>
        </p:nvSpPr>
        <p:spPr>
          <a:xfrm>
            <a:off x="1076400" y="269856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Analyze: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Fit the full APIM moderator interaction model in R.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Google Shape;615;p30"/>
          <p:cNvSpPr/>
          <p:nvPr/>
        </p:nvSpPr>
        <p:spPr>
          <a:xfrm>
            <a:off x="1076400" y="3055680"/>
            <a:ext cx="461376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Evaluate: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Identify the interaction terms: wnc:genderfemale and partner_wnc:genderfemale. Calculate the simple slopes for males and females.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4" name="Google Shape;616;p30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5" name="Google Shape;617;p30" descr="image.png"/>
          <p:cNvPicPr/>
          <p:nvPr/>
        </p:nvPicPr>
        <p:blipFill>
          <a:blip r:embed="rId9"/>
          <a:stretch/>
        </p:blipFill>
        <p:spPr>
          <a:xfrm>
            <a:off x="6719760" y="3348360"/>
            <a:ext cx="1893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Google Shape;618;p30"/>
          <p:cNvSpPr/>
          <p:nvPr/>
        </p:nvSpPr>
        <p:spPr>
          <a:xfrm>
            <a:off x="7024680" y="3329280"/>
            <a:ext cx="4137480" cy="42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Are the simple slopes statistically significant for both males and females?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7" name="Google Shape;620;p30" descr="image.png"/>
          <p:cNvPicPr/>
          <p:nvPr/>
        </p:nvPicPr>
        <p:blipFill>
          <a:blip r:embed="rId10"/>
          <a:stretch/>
        </p:blipFill>
        <p:spPr>
          <a:xfrm>
            <a:off x="809640" y="2369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8" name="Google Shape;621;p30" descr="image.png"/>
          <p:cNvPicPr/>
          <p:nvPr/>
        </p:nvPicPr>
        <p:blipFill>
          <a:blip r:embed="rId10"/>
          <a:stretch/>
        </p:blipFill>
        <p:spPr>
          <a:xfrm>
            <a:off x="809640" y="2727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9" name="Google Shape;622;p30" descr="image.png"/>
          <p:cNvPicPr/>
          <p:nvPr/>
        </p:nvPicPr>
        <p:blipFill>
          <a:blip r:embed="rId10"/>
          <a:stretch/>
        </p:blipFill>
        <p:spPr>
          <a:xfrm>
            <a:off x="809640" y="3084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SlideIndicatorTop62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19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4" name="Google Shape;627;p31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Google Shape;629;p31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29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Google Shape;630;p31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22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Google Shape;631;p31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Google Shape;632;p31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633;p31"/>
          <p:cNvSpPr/>
          <p:nvPr/>
        </p:nvSpPr>
        <p:spPr>
          <a:xfrm>
            <a:off x="571680" y="428760"/>
            <a:ext cx="41709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Google Shape;634;p31"/>
          <p:cNvSpPr/>
          <p:nvPr/>
        </p:nvSpPr>
        <p:spPr>
          <a:xfrm>
            <a:off x="571680" y="619200"/>
            <a:ext cx="437940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The Two-Intercept Model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Google Shape;635;p31"/>
          <p:cNvSpPr/>
          <p:nvPr/>
        </p:nvSpPr>
        <p:spPr>
          <a:xfrm>
            <a:off x="571680" y="1369800"/>
            <a:ext cx="53568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To avoid setting an arbitrary reference group (like males), we can suppress the global intercept using the 0 + gender syntax.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Google Shape;636;p31"/>
          <p:cNvSpPr/>
          <p:nvPr/>
        </p:nvSpPr>
        <p:spPr>
          <a:xfrm>
            <a:off x="6767640" y="1636200"/>
            <a:ext cx="4613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706"/>
                </a:solidFill>
                <a:effectLst/>
                <a:uFillTx/>
                <a:latin typeface="Inter"/>
                <a:ea typeface="Inter"/>
              </a:rPr>
              <a:t>Three Modeling Stages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Google Shape;637;p31"/>
          <p:cNvSpPr/>
          <p:nvPr/>
        </p:nvSpPr>
        <p:spPr>
          <a:xfrm>
            <a:off x="6500880" y="1998360"/>
            <a:ext cx="4880520" cy="1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Compare these nested models using Likelihood Ratio Tests: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638;p31"/>
          <p:cNvSpPr/>
          <p:nvPr/>
        </p:nvSpPr>
        <p:spPr>
          <a:xfrm>
            <a:off x="838080" y="21088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Direct Parameterization: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Directly estimates intercepts and slopes for both males and females, simplifying group comparisons.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Google Shape;639;p31"/>
          <p:cNvSpPr/>
          <p:nvPr/>
        </p:nvSpPr>
        <p:spPr>
          <a:xfrm>
            <a:off x="810600" y="3049168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Flexible Equality Constraints: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Easily constrain slopes to be equal across groups while still estimating separate intercepts.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6" name="Google Shape;640;p31" descr="image.png"/>
          <p:cNvPicPr/>
          <p:nvPr/>
        </p:nvPicPr>
        <p:blipFill>
          <a:blip r:embed="rId6"/>
          <a:stretch/>
        </p:blipFill>
        <p:spPr>
          <a:xfrm>
            <a:off x="6500880" y="16650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Google Shape;641;p31"/>
          <p:cNvSpPr/>
          <p:nvPr/>
        </p:nvSpPr>
        <p:spPr>
          <a:xfrm>
            <a:off x="6767640" y="227448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1: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Equal intercepts, equal slopes (most constrained model).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Google Shape;642;p31"/>
          <p:cNvSpPr/>
          <p:nvPr/>
        </p:nvSpPr>
        <p:spPr>
          <a:xfrm>
            <a:off x="6767640" y="287460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2: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Different intercepts, equal slopes (recommended baseline model).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643;p31"/>
          <p:cNvSpPr/>
          <p:nvPr/>
        </p:nvSpPr>
        <p:spPr>
          <a:xfrm>
            <a:off x="6767640" y="347472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Model 3: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Different intercepts, gender-varying slopes (full interaction model).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Google Shape;645;p31" descr="image.png"/>
          <p:cNvPicPr/>
          <p:nvPr/>
        </p:nvPicPr>
        <p:blipFill>
          <a:blip r:embed="rId7"/>
          <a:stretch/>
        </p:blipFill>
        <p:spPr>
          <a:xfrm>
            <a:off x="571680" y="2137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Google Shape;646;p31" descr="image.png"/>
          <p:cNvPicPr/>
          <p:nvPr/>
        </p:nvPicPr>
        <p:blipFill>
          <a:blip r:embed="rId7"/>
          <a:stretch/>
        </p:blipFill>
        <p:spPr>
          <a:xfrm>
            <a:off x="571680" y="27374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Google Shape;647;p31" descr="image.png"/>
          <p:cNvPicPr/>
          <p:nvPr/>
        </p:nvPicPr>
        <p:blipFill>
          <a:blip r:embed="rId7"/>
          <a:stretch/>
        </p:blipFill>
        <p:spPr>
          <a:xfrm>
            <a:off x="6500880" y="23032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Google Shape;648;p31" descr="image.png"/>
          <p:cNvPicPr/>
          <p:nvPr/>
        </p:nvPicPr>
        <p:blipFill>
          <a:blip r:embed="rId7"/>
          <a:stretch/>
        </p:blipFill>
        <p:spPr>
          <a:xfrm>
            <a:off x="6500880" y="29030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4" name="Google Shape;649;p31" descr="image.png"/>
          <p:cNvPicPr/>
          <p:nvPr/>
        </p:nvPicPr>
        <p:blipFill>
          <a:blip r:embed="rId7"/>
          <a:stretch/>
        </p:blipFill>
        <p:spPr>
          <a:xfrm>
            <a:off x="6500880" y="35031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SlideIndicator650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20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lideIndicatorTop651"/>
          <p:cNvSpPr/>
          <p:nvPr/>
        </p:nvSpPr>
        <p:spPr>
          <a:xfrm>
            <a:off x="10630080" y="454867"/>
            <a:ext cx="98964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20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26481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Google Shape;654;p32" descr="image.png"/>
          <p:cNvPicPr/>
          <p:nvPr/>
        </p:nvPicPr>
        <p:blipFill>
          <a:blip r:embed="rId2"/>
          <a:stretch/>
        </p:blipFill>
        <p:spPr>
          <a:xfrm>
            <a:off x="960" y="10137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Google Shape;658;p32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9" name="Google Shape;659;p32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Google Shape;660;p32"/>
          <p:cNvSpPr/>
          <p:nvPr/>
        </p:nvSpPr>
        <p:spPr>
          <a:xfrm>
            <a:off x="571680" y="428760"/>
            <a:ext cx="45234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661;p32"/>
          <p:cNvSpPr/>
          <p:nvPr/>
        </p:nvSpPr>
        <p:spPr>
          <a:xfrm>
            <a:off x="571680" y="619200"/>
            <a:ext cx="47494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 Code: Two-Intercept MLM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662;p32"/>
          <p:cNvSpPr/>
          <p:nvPr/>
        </p:nvSpPr>
        <p:spPr>
          <a:xfrm>
            <a:off x="571680" y="1369800"/>
            <a:ext cx="53568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The two-intercept model is specified in lme4 by suppressing the global intercept (using 0 + gender) so each group gets its own intercept: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671;p32"/>
          <p:cNvSpPr/>
          <p:nvPr/>
        </p:nvSpPr>
        <p:spPr>
          <a:xfrm>
            <a:off x="838080" y="2317048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Interpretable Outputs: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Coefficients are presented as separate intercepts (</a:t>
            </a:r>
            <a:r>
              <a:rPr lang="en-US" sz="1280" b="0" u="none" strike="noStrike" dirty="0" err="1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gendermale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, </a:t>
            </a:r>
            <a:r>
              <a:rPr lang="en-US" sz="1280" b="0" u="none" strike="noStrike" dirty="0" err="1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genderfemale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) rather than standard difference offsets.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Google Shape;672;p32"/>
          <p:cNvSpPr/>
          <p:nvPr/>
        </p:nvSpPr>
        <p:spPr>
          <a:xfrm>
            <a:off x="838080" y="3287550"/>
            <a:ext cx="5090040" cy="143141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Nested Model Comparisons: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Compares nested model equations to identify distinct parameter slopes.</a:t>
            </a: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endParaRPr lang="en-US" sz="1280" dirty="0">
              <a:solidFill>
                <a:srgbClr val="334155"/>
              </a:solidFill>
              <a:latin typeface="Inter"/>
              <a:ea typeface="Inter"/>
            </a:endParaRP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endParaRPr lang="en-US" sz="1280" b="0" u="none" strike="noStrike" dirty="0">
              <a:solidFill>
                <a:srgbClr val="334155"/>
              </a:solidFill>
              <a:effectLst/>
              <a:uFillTx/>
              <a:latin typeface="Inter"/>
              <a:ea typeface="Inter"/>
            </a:endParaRP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dirty="0">
                <a:solidFill>
                  <a:srgbClr val="334155"/>
                </a:solidFill>
                <a:latin typeface="Inter"/>
                <a:ea typeface="Inter"/>
              </a:rPr>
              <a:t>See script 05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Google Shape;674;p32" descr="image.png"/>
          <p:cNvPicPr/>
          <p:nvPr/>
        </p:nvPicPr>
        <p:blipFill>
          <a:blip r:embed="rId5"/>
          <a:stretch/>
        </p:blipFill>
        <p:spPr>
          <a:xfrm>
            <a:off x="571680" y="2137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6" name="Google Shape;675;p32" descr="image.png"/>
          <p:cNvPicPr/>
          <p:nvPr/>
        </p:nvPicPr>
        <p:blipFill>
          <a:blip r:embed="rId5"/>
          <a:stretch/>
        </p:blipFill>
        <p:spPr>
          <a:xfrm>
            <a:off x="571680" y="29804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CodeAreaBg677"/>
          <p:cNvSpPr/>
          <p:nvPr/>
        </p:nvSpPr>
        <p:spPr>
          <a:xfrm>
            <a:off x="6262560" y="1369800"/>
            <a:ext cx="5356800" cy="28011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odeBlock676"/>
          <p:cNvSpPr/>
          <p:nvPr/>
        </p:nvSpPr>
        <p:spPr>
          <a:xfrm>
            <a:off x="6462720" y="1619640"/>
            <a:ext cx="4956840" cy="20629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Two-Intercept MLM (script 05)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library(lme4); library(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lmerTest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load("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dyad_data.RData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")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Equal slopes, separate intercepts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m2 &lt;-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lmer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(sat ~ 0 + gender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partner_wnc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rec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p_rec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child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dual_earner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(1 | dyad), data=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summary(m2)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Coefficients: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gendermale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genderfemale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are the two dyad-member intercepts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SlideIndicator678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21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lideIndicatorTop679"/>
          <p:cNvSpPr/>
          <p:nvPr/>
        </p:nvSpPr>
        <p:spPr>
          <a:xfrm>
            <a:off x="10601280" y="454867"/>
            <a:ext cx="101808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21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0882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599;p3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3" name="Google Shape;601;p3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Google Shape;602;p3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5" name="Google Shape;604;p30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6" name="Google Shape;605;p30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Google Shape;606;p30"/>
          <p:cNvSpPr/>
          <p:nvPr/>
        </p:nvSpPr>
        <p:spPr>
          <a:xfrm>
            <a:off x="571680" y="428760"/>
            <a:ext cx="45709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Google Shape;607;p30"/>
          <p:cNvSpPr/>
          <p:nvPr/>
        </p:nvSpPr>
        <p:spPr>
          <a:xfrm>
            <a:off x="571680" y="619200"/>
            <a:ext cx="64990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Distinguishable: SEM Moderator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Google Shape;608;p30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The Approach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609;p30"/>
          <p:cNvSpPr/>
          <p:nvPr/>
        </p:nvSpPr>
        <p:spPr>
          <a:xfrm>
            <a:off x="809640" y="1998360"/>
            <a:ext cx="4880520" cy="10752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Mirror the lme4 gender moderator (script 06) as a two-level </a:t>
            </a:r>
            <a:r>
              <a:rPr lang="en-US" sz="1200" b="0" u="none" strike="noStrike" dirty="0" err="1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lavaan</a:t>
            </a: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 model. Gender interactions enter at the within-dyad level; dyad-level covariates (children, dual earner) at the between level.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1" name="Google Shape;612;p30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2" name="Google Shape;616;p30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3" name="Google Shape;617;p30" descr="image.png"/>
          <p:cNvPicPr/>
          <p:nvPr/>
        </p:nvPicPr>
        <p:blipFill>
          <a:blip r:embed="rId9"/>
          <a:stretch/>
        </p:blipFill>
        <p:spPr>
          <a:xfrm>
            <a:off x="6719760" y="3348360"/>
            <a:ext cx="1893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SlideIndicator624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22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ightCardTitle"/>
          <p:cNvSpPr/>
          <p:nvPr/>
        </p:nvSpPr>
        <p:spPr>
          <a:xfrm>
            <a:off x="6815160" y="1636200"/>
            <a:ext cx="456624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Inter"/>
                <a:ea typeface="Inter"/>
              </a:rPr>
              <a:t>lavaan Model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RightCardBody"/>
          <p:cNvSpPr/>
          <p:nvPr/>
        </p:nvSpPr>
        <p:spPr>
          <a:xfrm>
            <a:off x="6500880" y="1998360"/>
            <a:ext cx="4880520" cy="109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Two-level SEM: gender interactions are placed at the within-dyad level. Numeric coding (1=male, 2=female) makes the simple-slope labels explicit: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ss_wnc_M  := a_w + aw_int * 1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ss_wnc_F  := a_w + aw_int * 2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RightCardTip"/>
          <p:cNvSpPr/>
          <p:nvPr/>
        </p:nvSpPr>
        <p:spPr>
          <a:xfrm>
            <a:off x="7024680" y="3329280"/>
            <a:ext cx="4137480" cy="49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B45309"/>
                </a:solidFill>
                <a:effectLst/>
                <a:uFillTx/>
                <a:latin typeface="Inter"/>
                <a:ea typeface="Inter"/>
              </a:rPr>
              <a:t>Tip:</a:t>
            </a: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Models are saturated at the within level, so chi-square difference tests are not available. Use simple-slope labels (:=) to interpret the moderation.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lideIndicatorTop628"/>
          <p:cNvSpPr/>
          <p:nvPr/>
        </p:nvSpPr>
        <p:spPr>
          <a:xfrm>
            <a:off x="10630080" y="454867"/>
            <a:ext cx="98964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22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Google Shape;599;p3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0" name="Google Shape;601;p30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1" name="Google Shape;602;p30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280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Google Shape;603;p3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21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3" name="Google Shape;604;p30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4" name="Google Shape;605;p30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Google Shape;606;p30"/>
          <p:cNvSpPr/>
          <p:nvPr/>
        </p:nvSpPr>
        <p:spPr>
          <a:xfrm>
            <a:off x="571680" y="428760"/>
            <a:ext cx="45709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607;p30"/>
          <p:cNvSpPr/>
          <p:nvPr/>
        </p:nvSpPr>
        <p:spPr>
          <a:xfrm>
            <a:off x="571680" y="619200"/>
            <a:ext cx="479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R Code: SEM Moderator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Google Shape;608;p30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Two-Level SEM with Gender Moderation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Google Shape;609;p30"/>
          <p:cNvSpPr/>
          <p:nvPr/>
        </p:nvSpPr>
        <p:spPr>
          <a:xfrm>
            <a:off x="809640" y="1998360"/>
            <a:ext cx="4880520" cy="5212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construct a two-level </a:t>
            </a:r>
            <a:r>
              <a:rPr lang="en-US" sz="1200" b="0" u="none" strike="noStrike" dirty="0" err="1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lavaan</a:t>
            </a: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 model that mirrors the </a:t>
            </a:r>
            <a:r>
              <a:rPr lang="en-US" sz="1200" b="0" u="none" strike="noStrike" dirty="0" err="1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lmer</a:t>
            </a: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 interaction (script 06):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Google Shape;612;p30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CodeAreaBg630"/>
          <p:cNvSpPr/>
          <p:nvPr/>
        </p:nvSpPr>
        <p:spPr>
          <a:xfrm>
            <a:off x="6262560" y="1369800"/>
            <a:ext cx="5356800" cy="48027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odeBlock623"/>
          <p:cNvSpPr/>
          <p:nvPr/>
        </p:nvSpPr>
        <p:spPr>
          <a:xfrm>
            <a:off x="6412680" y="1469520"/>
            <a:ext cx="5056560" cy="30013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SEM Moderator (script 06)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lavaan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ddl$gender_num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&lt;-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as.numeric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ddl$gender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ddl$wnc_x_g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&lt;-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ddl$wnc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*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ddl$gender_num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ddl$pw_x_g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&lt;-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ddl$partner_wnc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*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ddl$gender_num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 &lt;- '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level: within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sat ~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partner_wnc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ar_w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*recovery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pr_w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partner_recovery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g_w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gender_num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aw_int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wnc_x_g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pw_int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pw_x_g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level: between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sat ~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c_ch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has_children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c_du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dual_earner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# Simple slopes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ss_wnc_M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:=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aw_int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* 1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ss_wnc_F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:=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aw_int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* 2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'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 &lt;- 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sem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(mod, data=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ddl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 cluster="</a:t>
            </a:r>
            <a:r>
              <a:rPr lang="en-US" sz="85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dyad_id</a:t>
            </a: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")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summary(fit)</a:t>
            </a:r>
            <a:endParaRPr lang="en-GB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lideIndicator624"/>
          <p:cNvSpPr/>
          <p:nvPr/>
        </p:nvSpPr>
        <p:spPr>
          <a:xfrm>
            <a:off x="10306080" y="6355627"/>
            <a:ext cx="169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23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lideIndicatorTop625"/>
          <p:cNvSpPr/>
          <p:nvPr/>
        </p:nvSpPr>
        <p:spPr>
          <a:xfrm>
            <a:off x="10630080" y="454867"/>
            <a:ext cx="98964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23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Google Shape;680;p33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Google Shape;684;p33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3" name="Google Shape;685;p33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Google Shape;686;p33"/>
          <p:cNvSpPr/>
          <p:nvPr/>
        </p:nvSpPr>
        <p:spPr>
          <a:xfrm>
            <a:off x="571680" y="428760"/>
            <a:ext cx="50374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Google Shape;687;p33"/>
          <p:cNvSpPr/>
          <p:nvPr/>
        </p:nvSpPr>
        <p:spPr>
          <a:xfrm>
            <a:off x="571680" y="619200"/>
            <a:ext cx="52894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Distinguishable: SEM (lavaan)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Google Shape;688;p33"/>
          <p:cNvSpPr/>
          <p:nvPr/>
        </p:nvSpPr>
        <p:spPr>
          <a:xfrm>
            <a:off x="571680" y="1369800"/>
            <a:ext cx="535680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In structural equation modeling, distinguishable dyads are modeled using wide-format datasets. We can estimate separate slopes, variances, and covariances for each group without constraints: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Google Shape;696;p33"/>
          <p:cNvSpPr/>
          <p:nvPr/>
        </p:nvSpPr>
        <p:spPr>
          <a:xfrm>
            <a:off x="838080" y="26571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Unconstrained Baseline: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Establishes unique pathways (e.g. males: a_m, females: a_f).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Google Shape;697;p33"/>
          <p:cNvSpPr/>
          <p:nvPr/>
        </p:nvSpPr>
        <p:spPr>
          <a:xfrm>
            <a:off x="838080" y="32572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Nested Constraints: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Constrain slopes to be equal (e.g. a == a) to test for gender differences via a Chi-Square Difference Test.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9" name="Google Shape;699;p33" descr="image.png"/>
          <p:cNvPicPr/>
          <p:nvPr/>
        </p:nvPicPr>
        <p:blipFill>
          <a:blip r:embed="rId5"/>
          <a:stretch/>
        </p:blipFill>
        <p:spPr>
          <a:xfrm>
            <a:off x="571680" y="26859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0" name="Google Shape;700;p33" descr="image.png"/>
          <p:cNvPicPr/>
          <p:nvPr/>
        </p:nvPicPr>
        <p:blipFill>
          <a:blip r:embed="rId5"/>
          <a:stretch/>
        </p:blipFill>
        <p:spPr>
          <a:xfrm>
            <a:off x="571680" y="3286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odeAreaBg702"/>
          <p:cNvSpPr/>
          <p:nvPr/>
        </p:nvSpPr>
        <p:spPr>
          <a:xfrm>
            <a:off x="6262560" y="1369800"/>
            <a:ext cx="5356800" cy="28011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odeBlock701"/>
          <p:cNvSpPr/>
          <p:nvPr/>
        </p:nvSpPr>
        <p:spPr>
          <a:xfrm>
            <a:off x="6462720" y="1619640"/>
            <a:ext cx="4956840" cy="240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Distinguishable SEM wide (script 07)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lavaan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Three nested models: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 1) Unconstrained  - all paths free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 2) Slopes equal   - labels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a,p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,...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#  3) Fully equal    - + equal intercepts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mod_un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&lt;- '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a_h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p_h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...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a_w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p_w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wnc_a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+ ...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int_a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*1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sat_p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~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int_p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*1   # separate intercepts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'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fit_un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&lt;-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sem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mod_un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 data=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ddw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lavTestLRT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(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fit_un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fit_slopes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,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</a:t>
            </a:r>
            <a:r>
              <a:rPr lang="en-US" sz="900" b="0" u="none" strike="noStrike" dirty="0" err="1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fit_full</a:t>
            </a:r>
            <a:r>
              <a:rPr lang="en-US" sz="900" b="0" u="none" strike="noStrike" dirty="0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)  # nested LRTs</a:t>
            </a:r>
            <a:endParaRPr lang="en-GB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lideIndicatorTop704"/>
          <p:cNvSpPr/>
          <p:nvPr/>
        </p:nvSpPr>
        <p:spPr>
          <a:xfrm>
            <a:off x="10630080" y="428760"/>
            <a:ext cx="98964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24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5" name="Google Shape;705;p34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Google Shape;707;p34" descr="image.png"/>
          <p:cNvPicPr/>
          <p:nvPr/>
        </p:nvPicPr>
        <p:blipFill>
          <a:blip r:embed="rId3"/>
          <a:stretch/>
        </p:blipFill>
        <p:spPr>
          <a:xfrm>
            <a:off x="571680" y="1369800"/>
            <a:ext cx="5356800" cy="30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Google Shape;708;p34" descr="image.png"/>
          <p:cNvPicPr/>
          <p:nvPr/>
        </p:nvPicPr>
        <p:blipFill>
          <a:blip r:embed="rId4"/>
          <a:stretch/>
        </p:blipFill>
        <p:spPr>
          <a:xfrm>
            <a:off x="6262560" y="1369800"/>
            <a:ext cx="5356800" cy="30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Google Shape;709;p34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25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Google Shape;710;p34" descr="image.png"/>
          <p:cNvPicPr/>
          <p:nvPr/>
        </p:nvPicPr>
        <p:blipFill>
          <a:blip r:embed="rId5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0" name="Google Shape;711;p34" descr="image.png"/>
          <p:cNvPicPr/>
          <p:nvPr/>
        </p:nvPicPr>
        <p:blipFill>
          <a:blip r:embed="rId6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Google Shape;712;p34"/>
          <p:cNvSpPr/>
          <p:nvPr/>
        </p:nvSpPr>
        <p:spPr>
          <a:xfrm>
            <a:off x="571680" y="428760"/>
            <a:ext cx="52948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713;p34"/>
          <p:cNvSpPr/>
          <p:nvPr/>
        </p:nvSpPr>
        <p:spPr>
          <a:xfrm>
            <a:off x="571680" y="619200"/>
            <a:ext cx="55594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Hands-On: Distinguishable SEM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Google Shape;714;p34"/>
          <p:cNvSpPr/>
          <p:nvPr/>
        </p:nvSpPr>
        <p:spPr>
          <a:xfrm>
            <a:off x="1123920" y="1636200"/>
            <a:ext cx="45662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Active Coding Session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Google Shape;715;p34"/>
          <p:cNvSpPr/>
          <p:nvPr/>
        </p:nvSpPr>
        <p:spPr>
          <a:xfrm>
            <a:off x="809640" y="1998360"/>
            <a:ext cx="488052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Let's practice setting constraints in structural equation models: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Google Shape;716;p34"/>
          <p:cNvSpPr/>
          <p:nvPr/>
        </p:nvSpPr>
        <p:spPr>
          <a:xfrm>
            <a:off x="6748560" y="1636200"/>
            <a:ext cx="46328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Core Modeling Decisions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Google Shape;717;p34"/>
          <p:cNvSpPr/>
          <p:nvPr/>
        </p:nvSpPr>
        <p:spPr>
          <a:xfrm>
            <a:off x="6500880" y="1998360"/>
            <a:ext cx="4880520" cy="77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9000"/>
              </a:lnSpc>
              <a:tabLst>
                <a:tab pos="0" algn="l"/>
              </a:tabLst>
            </a:pPr>
            <a:r>
              <a:rPr lang="en-US" sz="1280" b="0" i="1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"If the Chi-Square Difference Test is non-significant, adopt the constrained model for parsimony. If significant, retain the unconstrained model to allow for gender differences."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Google Shape;718;p34" descr="image.png"/>
          <p:cNvPicPr/>
          <p:nvPr/>
        </p:nvPicPr>
        <p:blipFill>
          <a:blip r:embed="rId7"/>
          <a:stretch/>
        </p:blipFill>
        <p:spPr>
          <a:xfrm>
            <a:off x="809640" y="1665000"/>
            <a:ext cx="21816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Google Shape;719;p34"/>
          <p:cNvSpPr/>
          <p:nvPr/>
        </p:nvSpPr>
        <p:spPr>
          <a:xfrm>
            <a:off x="1076400" y="234108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Open: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scripts/06_distinguishable_sem_wide.R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720;p34"/>
          <p:cNvSpPr/>
          <p:nvPr/>
        </p:nvSpPr>
        <p:spPr>
          <a:xfrm>
            <a:off x="1076400" y="2698560"/>
            <a:ext cx="46137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Execute: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Fit the unconstrained, slopes-equal, and fully-equal (slopes + intercepts) models.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Google Shape;721;p34"/>
          <p:cNvSpPr/>
          <p:nvPr/>
        </p:nvSpPr>
        <p:spPr>
          <a:xfrm>
            <a:off x="1076400" y="3298320"/>
            <a:ext cx="461376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Compare: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Run Chi-Square Difference Tests comparing the three models to determine if constraining male and female slopes to be equal significantly worsens model fit.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Google Shape;722;p34" descr="image.png"/>
          <p:cNvPicPr/>
          <p:nvPr/>
        </p:nvPicPr>
        <p:blipFill>
          <a:blip r:embed="rId8"/>
          <a:stretch/>
        </p:blipFill>
        <p:spPr>
          <a:xfrm>
            <a:off x="6500880" y="1665000"/>
            <a:ext cx="15120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Google Shape;723;p34" descr="image.png"/>
          <p:cNvPicPr/>
          <p:nvPr/>
        </p:nvPicPr>
        <p:blipFill>
          <a:blip r:embed="rId9"/>
          <a:stretch/>
        </p:blipFill>
        <p:spPr>
          <a:xfrm>
            <a:off x="6719760" y="3765240"/>
            <a:ext cx="14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Google Shape;724;p34"/>
          <p:cNvSpPr/>
          <p:nvPr/>
        </p:nvSpPr>
        <p:spPr>
          <a:xfrm>
            <a:off x="6977160" y="3746160"/>
            <a:ext cx="2475360" cy="21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 dirty="0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Does model fit change significantly?</a:t>
            </a:r>
            <a:endParaRPr lang="en-GB" sz="113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4" name="Google Shape;726;p34" descr="image.png"/>
          <p:cNvPicPr/>
          <p:nvPr/>
        </p:nvPicPr>
        <p:blipFill>
          <a:blip r:embed="rId10"/>
          <a:stretch/>
        </p:blipFill>
        <p:spPr>
          <a:xfrm>
            <a:off x="809640" y="2369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5" name="Google Shape;727;p34" descr="image.png"/>
          <p:cNvPicPr/>
          <p:nvPr/>
        </p:nvPicPr>
        <p:blipFill>
          <a:blip r:embed="rId10"/>
          <a:stretch/>
        </p:blipFill>
        <p:spPr>
          <a:xfrm>
            <a:off x="809640" y="2727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6" name="Google Shape;728;p34" descr="image.png"/>
          <p:cNvPicPr/>
          <p:nvPr/>
        </p:nvPicPr>
        <p:blipFill>
          <a:blip r:embed="rId10"/>
          <a:stretch/>
        </p:blipFill>
        <p:spPr>
          <a:xfrm>
            <a:off x="809640" y="3327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SlideIndicator729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lideIndicatorTop730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25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733;p35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0" name="Google Shape;735;p35" descr="image.png"/>
          <p:cNvPicPr/>
          <p:nvPr/>
        </p:nvPicPr>
        <p:blipFill>
          <a:blip r:embed="rId3"/>
          <a:stretch/>
        </p:blipFill>
        <p:spPr>
          <a:xfrm>
            <a:off x="571680" y="1834560"/>
            <a:ext cx="11048040" cy="45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Google Shape;736;p35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26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Google Shape;737;p35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Google Shape;738;p35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Google Shape;739;p35"/>
          <p:cNvSpPr/>
          <p:nvPr/>
        </p:nvSpPr>
        <p:spPr>
          <a:xfrm>
            <a:off x="571680" y="1369800"/>
            <a:ext cx="110480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Compare the three primary structural modeling methods used for distinguishable dyad analyses: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Google Shape;740;p35"/>
          <p:cNvSpPr/>
          <p:nvPr/>
        </p:nvSpPr>
        <p:spPr>
          <a:xfrm>
            <a:off x="571680" y="428760"/>
            <a:ext cx="600912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4F46E5"/>
                </a:solidFill>
                <a:effectLst/>
                <a:uFillTx/>
                <a:latin typeface="Inter"/>
                <a:ea typeface="Inter"/>
              </a:rPr>
              <a:t>EAOHP 2026 WORKSHOP • DISTINGUISHABLE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Google Shape;741;p35"/>
          <p:cNvSpPr/>
          <p:nvPr/>
        </p:nvSpPr>
        <p:spPr>
          <a:xfrm>
            <a:off x="571680" y="619200"/>
            <a:ext cx="63097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Distinguishable: Model Comparison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7" name="Google Shape;742;p35"/>
          <p:cNvGraphicFramePr/>
          <p:nvPr/>
        </p:nvGraphicFramePr>
        <p:xfrm>
          <a:off x="581040" y="1843920"/>
          <a:ext cx="11029320" cy="3036600"/>
        </p:xfrm>
        <a:graphic>
          <a:graphicData uri="http://schemas.openxmlformats.org/drawingml/2006/table">
            <a:tbl>
              <a:tblPr/>
              <a:tblGrid>
                <a:gridCol w="2356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9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4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Feature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Moderator Approach (lme4)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Two-Intercept (lme4)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8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 SemiBold"/>
                          <a:ea typeface="Inter SemiBold"/>
                        </a:rPr>
                        <a:t>SEM Approach (lavaan)</a:t>
                      </a:r>
                      <a:endParaRPr lang="en-GB" sz="9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Data Format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Format (One row/person)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Long Format (One row/person)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Wide Format (One row/dyad)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Intercepts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Reference Group + Offset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Two Direct Intercepts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Two Direct Intercepts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Testing Slope Differences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Via Interaction Significance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Via Likelihood Ratio Test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Via Chi-Square Difference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Fit Indices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No (relies on log-likelihood)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No (relies on log-likelihood)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Yes (CFI, RMSEA, AIC/BIC)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Missing Data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Listwise Deletion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Listwise Deletion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FIML (retains partial dyads)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Best Application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Testing external continuous moderators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Direct means comparisons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Complex mediation &amp; latent vars</a:t>
                      </a:r>
                      <a:endParaRPr lang="en-GB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88" name="SlideIndicator74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26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lideIndicatorTop744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26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0" name="Google Shape;768;p36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Google Shape;771;p36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27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Google Shape;772;p36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Google Shape;773;p36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Google Shape;774;p36"/>
          <p:cNvSpPr/>
          <p:nvPr/>
        </p:nvSpPr>
        <p:spPr>
          <a:xfrm>
            <a:off x="571680" y="428760"/>
            <a:ext cx="36658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EAOHP 2026 WORKSHOP • MODERATED APIM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775;p36"/>
          <p:cNvSpPr/>
          <p:nvPr/>
        </p:nvSpPr>
        <p:spPr>
          <a:xfrm>
            <a:off x="571680" y="619200"/>
            <a:ext cx="384948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The Buffer Hypothesis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776;p36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replicate the theoretical model of **Hahn, Binnewies, &amp; Dormann (2014)** to examine if dyad-level moderators alter standard APIM pathways: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777;p36"/>
          <p:cNvSpPr/>
          <p:nvPr/>
        </p:nvSpPr>
        <p:spPr>
          <a:xfrm>
            <a:off x="6767640" y="1636200"/>
            <a:ext cx="46137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Moderated APIM Structure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778;p36"/>
          <p:cNvSpPr/>
          <p:nvPr/>
        </p:nvSpPr>
        <p:spPr>
          <a:xfrm>
            <a:off x="6500880" y="199836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The model includes interaction terms between the **Partner Connection** predictor and the **Has Children** indicator.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779;p36"/>
          <p:cNvSpPr/>
          <p:nvPr/>
        </p:nvSpPr>
        <p:spPr>
          <a:xfrm>
            <a:off x="838080" y="238320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Research Question: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Does the presence of children moderate the partner crossover effect (Partner Connection → Own Satisfaction)?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780;p36"/>
          <p:cNvSpPr/>
          <p:nvPr/>
        </p:nvSpPr>
        <p:spPr>
          <a:xfrm>
            <a:off x="838080" y="322596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Theoretical Mechanism: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Partner crossover represents stress transmission. Joint domestic demands (e.g. child-rearing) may alter these crossover pathways.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781;p36"/>
          <p:cNvSpPr/>
          <p:nvPr/>
        </p:nvSpPr>
        <p:spPr>
          <a:xfrm>
            <a:off x="838080" y="406908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Findings: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The crossover effect is buffered (weaker) for couples with children, as shared family responsibilities alter cognitive work-life boundaries.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Google Shape;782;p36" descr="image.png"/>
          <p:cNvPicPr/>
          <p:nvPr/>
        </p:nvPicPr>
        <p:blipFill>
          <a:blip r:embed="rId5"/>
          <a:stretch/>
        </p:blipFill>
        <p:spPr>
          <a:xfrm>
            <a:off x="6500880" y="1665000"/>
            <a:ext cx="170280" cy="1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Google Shape;783;p36" descr="image.png"/>
          <p:cNvPicPr/>
          <p:nvPr/>
        </p:nvPicPr>
        <p:blipFill>
          <a:blip r:embed="rId6"/>
          <a:stretch/>
        </p:blipFill>
        <p:spPr>
          <a:xfrm>
            <a:off x="6719760" y="4159440"/>
            <a:ext cx="752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Google Shape;784;p36"/>
          <p:cNvSpPr/>
          <p:nvPr/>
        </p:nvSpPr>
        <p:spPr>
          <a:xfrm>
            <a:off x="6910560" y="4140360"/>
            <a:ext cx="4251960" cy="42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Both MLM and SEM frameworks can accommodate dyad-level moderators.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5" name="Google Shape;786;p36" descr="image.png"/>
          <p:cNvPicPr/>
          <p:nvPr/>
        </p:nvPicPr>
        <p:blipFill>
          <a:blip r:embed="rId7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6" name="Google Shape;787;p36" descr="image.png"/>
          <p:cNvPicPr/>
          <p:nvPr/>
        </p:nvPicPr>
        <p:blipFill>
          <a:blip r:embed="rId7"/>
          <a:stretch/>
        </p:blipFill>
        <p:spPr>
          <a:xfrm>
            <a:off x="571680" y="32544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Google Shape;788;p36" descr="image.png"/>
          <p:cNvPicPr/>
          <p:nvPr/>
        </p:nvPicPr>
        <p:blipFill>
          <a:blip r:embed="rId7"/>
          <a:stretch/>
        </p:blipFill>
        <p:spPr>
          <a:xfrm>
            <a:off x="571680" y="40975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SlideIndicator790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27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SlideIndicatorTop791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27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0" name="Google Shape;793;p37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1" name="Google Shape;795;p37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360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CodeAreaBg"/>
          <p:cNvSpPr/>
          <p:nvPr/>
        </p:nvSpPr>
        <p:spPr>
          <a:xfrm>
            <a:off x="6262560" y="1369800"/>
            <a:ext cx="5356800" cy="44989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CodeBlock"/>
          <p:cNvSpPr/>
          <p:nvPr/>
        </p:nvSpPr>
        <p:spPr>
          <a:xfrm>
            <a:off x="6412680" y="1469520"/>
            <a:ext cx="5056560" cy="429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64748B"/>
                </a:solidFill>
                <a:effectLst/>
                <a:uFillTx/>
                <a:latin typeface="Fira Code"/>
                <a:ea typeface="Fira Code"/>
              </a:rPr>
              <a:t># Moderated APIM, MLM (script 08)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library(lme4); library(lmerTest); library(interactions)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m_mod &lt;- lmer(satisfaction ~ wnc + partner_wnc +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 has_children +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 wnc:has_children + partner_wnc:has_children +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              (1 | dyad_id), data = ddl)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interact_plot(m_mod, pred = partner_wnc, modx = has_children)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59E0B"/>
                </a:solidFill>
                <a:effectLst/>
                <a:uFillTx/>
                <a:latin typeface="Fira Code"/>
                <a:ea typeface="Fira Code"/>
              </a:rPr>
              <a:t># *** SEM: lavaan ***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64748B"/>
                </a:solidFill>
                <a:effectLst/>
                <a:uFillTx/>
                <a:latin typeface="Fira Code"/>
                <a:ea typeface="Fira Code"/>
              </a:rPr>
              <a:t># SEM Approach: lavaan (script 08)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ddw$wnc_a_children &lt;- ddw$wnc_a * ddw$has_children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ddw$wnc_p_children &lt;- ddw$wnc_p * ddw$has_children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mod &lt;- '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sat_a ~ a*wnc_a + p*wnc_p + a_int*wnc_a_children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sat_p ~ a*wnc_p + p*wnc_a + p_int*wnc_p_children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actor_no_child  := a + a_int * 0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 actor_has_child := a + a_int * 1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'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 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fit &lt;- sem(mod, data = ddw)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CBD5E1"/>
                </a:solidFill>
                <a:effectLst/>
                <a:uFillTx/>
                <a:latin typeface="Fira Code"/>
                <a:ea typeface="Fira Code"/>
              </a:rPr>
              <a:t>summary(fit)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796;p37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28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5" name="Google Shape;797;p37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6" name="Google Shape;798;p37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7" name="Google Shape;799;p37"/>
          <p:cNvSpPr/>
          <p:nvPr/>
        </p:nvSpPr>
        <p:spPr>
          <a:xfrm>
            <a:off x="571680" y="428760"/>
            <a:ext cx="52282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EAOHP 2026 WORKSHOP • MODERATED APIM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Google Shape;800;p37"/>
          <p:cNvSpPr/>
          <p:nvPr/>
        </p:nvSpPr>
        <p:spPr>
          <a:xfrm>
            <a:off x="571680" y="619200"/>
            <a:ext cx="548964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Multilevel vs. SEM Formulations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801;p37"/>
          <p:cNvSpPr/>
          <p:nvPr/>
        </p:nvSpPr>
        <p:spPr>
          <a:xfrm>
            <a:off x="571680" y="1369800"/>
            <a:ext cx="53568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estimate the interaction using either lme4 or lavaan: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811;p37"/>
          <p:cNvSpPr/>
          <p:nvPr/>
        </p:nvSpPr>
        <p:spPr>
          <a:xfrm>
            <a:off x="838080" y="18345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lme4 Interaction: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</a:t>
            </a:r>
            <a:br>
              <a:rPr sz="1800"/>
            </a:b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wnc * has_children + partner_wnc * has_children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812;p37"/>
          <p:cNvSpPr/>
          <p:nvPr/>
        </p:nvSpPr>
        <p:spPr>
          <a:xfrm>
            <a:off x="838080" y="24346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lavaan Interaction: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Requires creating manual product indicators for the interactions in wide format before fitting.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2" name="Google Shape;813;p37" descr="image.png"/>
          <p:cNvPicPr/>
          <p:nvPr/>
        </p:nvPicPr>
        <p:blipFill>
          <a:blip r:embed="rId6"/>
          <a:stretch/>
        </p:blipFill>
        <p:spPr>
          <a:xfrm>
            <a:off x="790560" y="3263040"/>
            <a:ext cx="23688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Google Shape;814;p37"/>
          <p:cNvSpPr/>
          <p:nvPr/>
        </p:nvSpPr>
        <p:spPr>
          <a:xfrm>
            <a:off x="1143000" y="3244320"/>
            <a:ext cx="4566240" cy="42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Open:</a:t>
            </a: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 scripts/08_moderated_apim.R. Run the script and plot the interaction slopes.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4" name="Google Shape;816;p37" descr="image.png"/>
          <p:cNvPicPr/>
          <p:nvPr/>
        </p:nvPicPr>
        <p:blipFill>
          <a:blip r:embed="rId7"/>
          <a:stretch/>
        </p:blipFill>
        <p:spPr>
          <a:xfrm>
            <a:off x="571680" y="18630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5" name="Google Shape;817;p37" descr="image.png"/>
          <p:cNvPicPr/>
          <p:nvPr/>
        </p:nvPicPr>
        <p:blipFill>
          <a:blip r:embed="rId7"/>
          <a:stretch/>
        </p:blipFill>
        <p:spPr>
          <a:xfrm>
            <a:off x="571680" y="24631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SlideIndicator818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lideIndicatorTop819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28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8" name="Google Shape;822;p38" descr="image.png"/>
          <p:cNvPicPr/>
          <p:nvPr/>
        </p:nvPicPr>
        <p:blipFill>
          <a:blip r:embed="rId2"/>
          <a:stretch/>
        </p:blipFill>
        <p:spPr>
          <a:xfrm>
            <a:off x="180000" y="16236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9" name="Google Shape;824;p38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306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0" name="Google Shape;825;p38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29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1" name="Google Shape;826;p38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2" name="Google Shape;827;p38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3" name="Google Shape;828;p38"/>
          <p:cNvSpPr/>
          <p:nvPr/>
        </p:nvSpPr>
        <p:spPr>
          <a:xfrm>
            <a:off x="571680" y="428760"/>
            <a:ext cx="53139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EAOHP 2026 WORKSHOP • ADVANCED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Google Shape;829;p38"/>
          <p:cNvSpPr/>
          <p:nvPr/>
        </p:nvSpPr>
        <p:spPr>
          <a:xfrm>
            <a:off x="571680" y="619200"/>
            <a:ext cx="557964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Advanced: APIM Power Analysis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Google Shape;830;p38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Dyadic power analysis is complex because power is a function of the **Intra-class Correlation (ICC)**, effect size, and the number of dyads (not individuals).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Google Shape;831;p38"/>
          <p:cNvSpPr/>
          <p:nvPr/>
        </p:nvSpPr>
        <p:spPr>
          <a:xfrm>
            <a:off x="6729480" y="1636200"/>
            <a:ext cx="465192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Sample Requirements Metric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Google Shape;832;p38"/>
          <p:cNvSpPr/>
          <p:nvPr/>
        </p:nvSpPr>
        <p:spPr>
          <a:xfrm>
            <a:off x="6500880" y="1998360"/>
            <a:ext cx="4880520" cy="2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α = 0.05, power = 0.80 — required N (dyads):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Google Shape;833;p38"/>
          <p:cNvSpPr/>
          <p:nvPr/>
        </p:nvSpPr>
        <p:spPr>
          <a:xfrm>
            <a:off x="838080" y="238320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Basic APIM: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Requires a minimum of 50 dyads; N = 100-120 dyads is preferred.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Google Shape;834;p38"/>
          <p:cNvSpPr/>
          <p:nvPr/>
        </p:nvSpPr>
        <p:spPr>
          <a:xfrm>
            <a:off x="838080" y="29829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Partner Effects: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Require larger samples than actor effects due to shared variance.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Google Shape;835;p38"/>
          <p:cNvSpPr/>
          <p:nvPr/>
        </p:nvSpPr>
        <p:spPr>
          <a:xfrm>
            <a:off x="838080" y="35830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Moderation: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Cross-level interactions typically require N &gt; 150 dyads.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1" name="Google Shape;840;p38" descr="image.png"/>
          <p:cNvPicPr/>
          <p:nvPr/>
        </p:nvPicPr>
        <p:blipFill>
          <a:blip r:embed="rId6"/>
          <a:stretch/>
        </p:blipFill>
        <p:spPr>
          <a:xfrm>
            <a:off x="6653160" y="3830040"/>
            <a:ext cx="189360" cy="1893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642" name="PowerTable"/>
          <p:cNvGraphicFramePr/>
          <p:nvPr/>
        </p:nvGraphicFramePr>
        <p:xfrm>
          <a:off x="6750000" y="2350080"/>
          <a:ext cx="4399200" cy="991800"/>
        </p:xfrm>
        <a:graphic>
          <a:graphicData uri="http://schemas.openxmlformats.org/drawingml/2006/table">
            <a:tbl>
              <a:tblPr/>
              <a:tblGrid>
                <a:gridCol w="2299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Effect size (β)</a:t>
                      </a:r>
                      <a:endParaRPr lang="en-GB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BE123C"/>
                      </a:solidFill>
                      <a:prstDash val="solid"/>
                    </a:lnL>
                    <a:lnR w="6480">
                      <a:solidFill>
                        <a:srgbClr val="BE123C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BE123C"/>
                      </a:solidFill>
                      <a:prstDash val="soli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β = .15</a:t>
                      </a:r>
                      <a:endParaRPr lang="en-GB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BE123C"/>
                      </a:solidFill>
                      <a:prstDash val="solid"/>
                    </a:lnL>
                    <a:lnR w="6480">
                      <a:solidFill>
                        <a:srgbClr val="BE123C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BE123C"/>
                      </a:solidFill>
                      <a:prstDash val="soli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β = .25</a:t>
                      </a:r>
                      <a:endParaRPr lang="en-GB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BE123C"/>
                      </a:solidFill>
                      <a:prstDash val="solid"/>
                    </a:lnL>
                    <a:lnR w="6480">
                      <a:solidFill>
                        <a:srgbClr val="BE123C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BE123C"/>
                      </a:solidFill>
                      <a:prstDash val="solid"/>
                    </a:lnB>
                    <a:solidFill>
                      <a:srgbClr val="BE12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Indistinguishable</a:t>
                      </a:r>
                      <a:r>
                        <a:rPr lang="en-US" sz="1200" b="0" u="none" strike="noStrike">
                          <a:solidFill>
                            <a:srgbClr val="475569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 dyads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BE123C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159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BE123C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59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BE123C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1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Distinguishable</a:t>
                      </a:r>
                      <a:r>
                        <a:rPr lang="en-US" sz="1200" b="0" u="none" strike="noStrike">
                          <a:solidFill>
                            <a:srgbClr val="475569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 dyads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CBD5E1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BE123C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348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CBD5E1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rgbClr val="BE123C"/>
                          </a:solidFill>
                          <a:effectLst/>
                          <a:uFillTx/>
                          <a:latin typeface="Inter"/>
                          <a:ea typeface="Inter"/>
                        </a:rPr>
                        <a:t>129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CBD5E1"/>
                      </a:solidFill>
                      <a:prstDash val="solid"/>
                    </a:lnL>
                    <a:lnR w="6480">
                      <a:solidFill>
                        <a:srgbClr val="CBD5E1"/>
                      </a:solidFill>
                      <a:prstDash val="solid"/>
                    </a:lnR>
                    <a:lnT w="6480">
                      <a:solidFill>
                        <a:srgbClr val="CBD5E1"/>
                      </a:solidFill>
                      <a:prstDash val="solid"/>
                    </a:lnT>
                    <a:lnB w="6480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3" name="Google Shape;841;p38"/>
          <p:cNvSpPr/>
          <p:nvPr/>
        </p:nvSpPr>
        <p:spPr>
          <a:xfrm>
            <a:off x="6958440" y="3600000"/>
            <a:ext cx="4921200" cy="51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Estimated with APIMPowerR: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0369A1"/>
                </a:solidFill>
                <a:effectLst/>
                <a:uFillTx/>
                <a:latin typeface="Inter"/>
                <a:ea typeface="Inter"/>
              </a:rPr>
              <a:t>https://robert-a-ackerman.shinyapps.io/APIMPowerRdis/</a:t>
            </a:r>
            <a:endParaRPr lang="en-GB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4" name="Google Shape;843;p38" descr="image.png"/>
          <p:cNvPicPr/>
          <p:nvPr/>
        </p:nvPicPr>
        <p:blipFill>
          <a:blip r:embed="rId7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5" name="Google Shape;844;p38" descr="image.png"/>
          <p:cNvPicPr/>
          <p:nvPr/>
        </p:nvPicPr>
        <p:blipFill>
          <a:blip r:embed="rId7"/>
          <a:stretch/>
        </p:blipFill>
        <p:spPr>
          <a:xfrm>
            <a:off x="571680" y="30117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6" name="Google Shape;845;p38" descr="image.png"/>
          <p:cNvPicPr/>
          <p:nvPr/>
        </p:nvPicPr>
        <p:blipFill>
          <a:blip r:embed="rId7"/>
          <a:stretch/>
        </p:blipFill>
        <p:spPr>
          <a:xfrm>
            <a:off x="571680" y="36118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SlideIndicator849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29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lideIndicatorTop850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29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Google Shape;853;p39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0" name="Google Shape;855;p39" descr="image.png"/>
          <p:cNvPicPr/>
          <p:nvPr/>
        </p:nvPicPr>
        <p:blipFill>
          <a:blip r:embed="rId3"/>
          <a:stretch/>
        </p:blipFill>
        <p:spPr>
          <a:xfrm>
            <a:off x="6262560" y="1369800"/>
            <a:ext cx="5356800" cy="290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Google Shape;856;p39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30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2" name="Google Shape;857;p39" descr="image.png"/>
          <p:cNvPicPr/>
          <p:nvPr/>
        </p:nvPicPr>
        <p:blipFill>
          <a:blip r:embed="rId4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3" name="Google Shape;858;p39" descr="image.png"/>
          <p:cNvPicPr/>
          <p:nvPr/>
        </p:nvPicPr>
        <p:blipFill>
          <a:blip r:embed="rId5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Google Shape;859;p39"/>
          <p:cNvSpPr/>
          <p:nvPr/>
        </p:nvSpPr>
        <p:spPr>
          <a:xfrm>
            <a:off x="571680" y="428760"/>
            <a:ext cx="519948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EAOHP 2026 WORKSHOP • ADVANCED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Google Shape;860;p39"/>
          <p:cNvSpPr/>
          <p:nvPr/>
        </p:nvSpPr>
        <p:spPr>
          <a:xfrm>
            <a:off x="571680" y="619200"/>
            <a:ext cx="54597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Three-Level Nesting Structures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Google Shape;861;p39"/>
          <p:cNvSpPr/>
          <p:nvPr/>
        </p:nvSpPr>
        <p:spPr>
          <a:xfrm>
            <a:off x="571680" y="1369800"/>
            <a:ext cx="535680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Dyads are often nested within larger clusters (e.g. organizations, departments, clinic teams), or measured over time: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Google Shape;862;p39"/>
          <p:cNvSpPr/>
          <p:nvPr/>
        </p:nvSpPr>
        <p:spPr>
          <a:xfrm>
            <a:off x="6748560" y="1636200"/>
            <a:ext cx="463284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effectLst/>
                <a:uFillTx/>
                <a:latin typeface="Inter"/>
                <a:ea typeface="Inter"/>
              </a:rPr>
              <a:t>Bayesian Estimations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Google Shape;863;p39"/>
          <p:cNvSpPr/>
          <p:nvPr/>
        </p:nvSpPr>
        <p:spPr>
          <a:xfrm>
            <a:off x="6500880" y="1998360"/>
            <a:ext cx="488052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For small samples or complex models with multiple random slopes, Bayesian estimations provide stable parameter estimates: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Google Shape;864;p39"/>
          <p:cNvSpPr/>
          <p:nvPr/>
        </p:nvSpPr>
        <p:spPr>
          <a:xfrm>
            <a:off x="838080" y="210888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3-Level syntax in lme4: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</a:t>
            </a:r>
            <a:br>
              <a:rPr sz="1800"/>
            </a:b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satisfaction ~ wnc + (1 | team_id) + (1 | dyad_id)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Google Shape;865;p39"/>
          <p:cNvSpPr/>
          <p:nvPr/>
        </p:nvSpPr>
        <p:spPr>
          <a:xfrm>
            <a:off x="838080" y="2727720"/>
            <a:ext cx="5090040" cy="43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Daily Diary / ESM Designs: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Days nested within Persons, nested within Dyads.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1" name="Google Shape;866;p39" descr="image.png"/>
          <p:cNvPicPr/>
          <p:nvPr/>
        </p:nvPicPr>
        <p:blipFill>
          <a:blip r:embed="rId6"/>
          <a:stretch/>
        </p:blipFill>
        <p:spPr>
          <a:xfrm>
            <a:off x="6500880" y="1665000"/>
            <a:ext cx="151200" cy="1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2" name="Google Shape;867;p39"/>
          <p:cNvSpPr/>
          <p:nvPr/>
        </p:nvSpPr>
        <p:spPr>
          <a:xfrm>
            <a:off x="6740160" y="286308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brms: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Stan-based package with intuitive, lme4-like syntax.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868;p39"/>
          <p:cNvSpPr/>
          <p:nvPr/>
        </p:nvSpPr>
        <p:spPr>
          <a:xfrm>
            <a:off x="6767640" y="3578040"/>
            <a:ext cx="46137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blavaan:</a:t>
            </a: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Fits Bayesian SEM models.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Google Shape;869;p39"/>
          <p:cNvSpPr/>
          <p:nvPr/>
        </p:nvSpPr>
        <p:spPr>
          <a:xfrm>
            <a:off x="1247760" y="3242160"/>
            <a:ext cx="46803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Allows modeling of daily actor/partner lag fluctuations.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5" name="Google Shape;871;p39" descr="image.png"/>
          <p:cNvPicPr/>
          <p:nvPr/>
        </p:nvPicPr>
        <p:blipFill>
          <a:blip r:embed="rId7"/>
          <a:stretch/>
        </p:blipFill>
        <p:spPr>
          <a:xfrm>
            <a:off x="571680" y="213732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6" name="Google Shape;872;p39" descr="image.png"/>
          <p:cNvPicPr/>
          <p:nvPr/>
        </p:nvPicPr>
        <p:blipFill>
          <a:blip r:embed="rId7"/>
          <a:stretch/>
        </p:blipFill>
        <p:spPr>
          <a:xfrm>
            <a:off x="571680" y="27374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7" name="Google Shape;873;p39" descr="image.png"/>
          <p:cNvPicPr/>
          <p:nvPr/>
        </p:nvPicPr>
        <p:blipFill>
          <a:blip r:embed="rId7"/>
          <a:stretch/>
        </p:blipFill>
        <p:spPr>
          <a:xfrm>
            <a:off x="6500880" y="25984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Google Shape;874;p39" descr="image.png"/>
          <p:cNvPicPr/>
          <p:nvPr/>
        </p:nvPicPr>
        <p:blipFill>
          <a:blip r:embed="rId7"/>
          <a:stretch/>
        </p:blipFill>
        <p:spPr>
          <a:xfrm>
            <a:off x="6500880" y="29556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9" name="Google Shape;875;p39"/>
          <p:cNvSpPr/>
          <p:nvPr/>
        </p:nvSpPr>
        <p:spPr>
          <a:xfrm>
            <a:off x="1247760" y="3599280"/>
            <a:ext cx="468036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Time-lagged effects: Does yesterday's connection predict today's relationship satisfaction?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0" name="Google Shape;876;p39" descr="image.png"/>
          <p:cNvPicPr/>
          <p:nvPr/>
        </p:nvPicPr>
        <p:blipFill>
          <a:blip r:embed="rId7"/>
          <a:stretch/>
        </p:blipFill>
        <p:spPr>
          <a:xfrm>
            <a:off x="981000" y="327096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1" name="Google Shape;877;p39" descr="image.png"/>
          <p:cNvPicPr/>
          <p:nvPr/>
        </p:nvPicPr>
        <p:blipFill>
          <a:blip r:embed="rId7"/>
          <a:stretch/>
        </p:blipFill>
        <p:spPr>
          <a:xfrm>
            <a:off x="981000" y="362808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SlideIndicator878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30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lideIndicatorTop879"/>
          <p:cNvSpPr/>
          <p:nvPr/>
        </p:nvSpPr>
        <p:spPr>
          <a:xfrm>
            <a:off x="10611000" y="428760"/>
            <a:ext cx="100872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30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4" name="Google Shape;882;p40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Google Shape;885;p40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31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6" name="Google Shape;886;p40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7" name="Google Shape;887;p40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8" name="Google Shape;888;p40"/>
          <p:cNvSpPr/>
          <p:nvPr/>
        </p:nvSpPr>
        <p:spPr>
          <a:xfrm>
            <a:off x="571680" y="428760"/>
            <a:ext cx="523764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5803D"/>
                </a:solidFill>
                <a:effectLst/>
                <a:uFillTx/>
                <a:latin typeface="Inter"/>
                <a:ea typeface="Inter"/>
              </a:rPr>
              <a:t>EAOHP 2026 WORKSHOP • SUMMARY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Google Shape;889;p40"/>
          <p:cNvSpPr/>
          <p:nvPr/>
        </p:nvSpPr>
        <p:spPr>
          <a:xfrm>
            <a:off x="571680" y="619200"/>
            <a:ext cx="54997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Missing Data in Dyadic Designs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Google Shape;890;p40"/>
          <p:cNvSpPr/>
          <p:nvPr/>
        </p:nvSpPr>
        <p:spPr>
          <a:xfrm>
            <a:off x="571680" y="1369800"/>
            <a:ext cx="5356800" cy="82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If one partner has missing data, listwise deletion in standard regression removes the entire dyad. This significantly reduces statistical power: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892;p40"/>
          <p:cNvSpPr/>
          <p:nvPr/>
        </p:nvSpPr>
        <p:spPr>
          <a:xfrm>
            <a:off x="838080" y="2383200"/>
            <a:ext cx="5090040" cy="72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SEM FIML: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Full Information Maximum Likelihood estimates parameters using all available data under MAR assumptions. This is the preferred approach.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893;p40"/>
          <p:cNvSpPr/>
          <p:nvPr/>
        </p:nvSpPr>
        <p:spPr>
          <a:xfrm>
            <a:off x="838080" y="3225960"/>
            <a:ext cx="509004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Multiple Imputation: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 Impute missing values at the dyad level using packages like mice to preserve dyadic dependencies.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Google Shape;896;p40"/>
          <p:cNvSpPr/>
          <p:nvPr/>
        </p:nvSpPr>
        <p:spPr>
          <a:xfrm>
            <a:off x="6767640" y="2709720"/>
            <a:ext cx="4613760" cy="259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 dirty="0">
                <a:solidFill>
                  <a:srgbClr val="334155"/>
                </a:solidFill>
                <a:effectLst/>
                <a:uFillTx/>
                <a:latin typeface="Inter"/>
                <a:ea typeface="Inter"/>
              </a:rPr>
              <a:t>.</a:t>
            </a:r>
            <a:endParaRPr lang="en-GB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7" name="Google Shape;898;p40" descr="image.png"/>
          <p:cNvPicPr/>
          <p:nvPr/>
        </p:nvPicPr>
        <p:blipFill>
          <a:blip r:embed="rId5"/>
          <a:stretch/>
        </p:blipFill>
        <p:spPr>
          <a:xfrm>
            <a:off x="571680" y="241164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8" name="Google Shape;899;p40" descr="image.png"/>
          <p:cNvPicPr/>
          <p:nvPr/>
        </p:nvPicPr>
        <p:blipFill>
          <a:blip r:embed="rId5"/>
          <a:stretch/>
        </p:blipFill>
        <p:spPr>
          <a:xfrm>
            <a:off x="571680" y="3254400"/>
            <a:ext cx="113400" cy="1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1" name="SlideIndicator903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31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SlideIndicatorTop904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31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3" name="Google Shape;906;p41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4" name="Google Shape;909;p41"/>
          <p:cNvSpPr/>
          <p:nvPr/>
        </p:nvSpPr>
        <p:spPr>
          <a:xfrm>
            <a:off x="10829880" y="6372360"/>
            <a:ext cx="64656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Slide 32 / 32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5" name="Google Shape;910;p41" descr="image.png"/>
          <p:cNvPicPr/>
          <p:nvPr/>
        </p:nvPicPr>
        <p:blipFill>
          <a:blip r:embed="rId3"/>
          <a:stretch/>
        </p:blipFill>
        <p:spPr>
          <a:xfrm>
            <a:off x="105249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Google Shape;911;p41" descr="image.png"/>
          <p:cNvPicPr/>
          <p:nvPr/>
        </p:nvPicPr>
        <p:blipFill>
          <a:blip r:embed="rId4"/>
          <a:stretch/>
        </p:blipFill>
        <p:spPr>
          <a:xfrm>
            <a:off x="11630160" y="6372360"/>
            <a:ext cx="151200" cy="1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Google Shape;912;p41"/>
          <p:cNvSpPr/>
          <p:nvPr/>
        </p:nvSpPr>
        <p:spPr>
          <a:xfrm>
            <a:off x="571680" y="428760"/>
            <a:ext cx="3970800" cy="1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5803D"/>
                </a:solidFill>
                <a:effectLst/>
                <a:uFillTx/>
                <a:latin typeface="Inter"/>
                <a:ea typeface="Inter"/>
              </a:rPr>
              <a:t>EAOHP 2026 WORKSHOP • SUMMARY</a:t>
            </a:r>
            <a:endParaRPr lang="en-GB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913;p41"/>
          <p:cNvSpPr/>
          <p:nvPr/>
        </p:nvSpPr>
        <p:spPr>
          <a:xfrm>
            <a:off x="571680" y="619200"/>
            <a:ext cx="416952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0F172A"/>
                </a:solidFill>
                <a:effectLst/>
                <a:uFillTx/>
                <a:latin typeface="Poppins"/>
                <a:ea typeface="Poppins"/>
              </a:rPr>
              <a:t>Questions &amp; Discussion</a:t>
            </a:r>
            <a:endParaRPr lang="en-GB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Google Shape;914;p41"/>
          <p:cNvSpPr/>
          <p:nvPr/>
        </p:nvSpPr>
        <p:spPr>
          <a:xfrm>
            <a:off x="571680" y="1699920"/>
            <a:ext cx="5624640" cy="54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0" u="none" strike="noStrike">
                <a:solidFill>
                  <a:srgbClr val="15803D"/>
                </a:solidFill>
                <a:effectLst/>
                <a:uFillTx/>
                <a:latin typeface="Poppins SemiBold"/>
                <a:ea typeface="Poppins SemiBold"/>
              </a:rPr>
              <a:t>Thank You!</a:t>
            </a:r>
            <a:endParaRPr lang="en-GB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915;p41"/>
          <p:cNvSpPr/>
          <p:nvPr/>
        </p:nvSpPr>
        <p:spPr>
          <a:xfrm>
            <a:off x="571680" y="2300040"/>
            <a:ext cx="535680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6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Inter"/>
                <a:ea typeface="Inter"/>
              </a:rPr>
              <a:t>We have successfully walked through the foundations, estimations, and advanced extensions of the Actor-Partner Interdependence Model (APIM) in R.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1" name="Google Shape;917;p41" descr="image.png"/>
          <p:cNvPicPr/>
          <p:nvPr/>
        </p:nvPicPr>
        <p:blipFill>
          <a:blip r:embed="rId5"/>
          <a:stretch/>
        </p:blipFill>
        <p:spPr>
          <a:xfrm>
            <a:off x="308880" y="3369960"/>
            <a:ext cx="21816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2" name="Google Shape;918;p41"/>
          <p:cNvSpPr/>
          <p:nvPr/>
        </p:nvSpPr>
        <p:spPr>
          <a:xfrm>
            <a:off x="571680" y="3300120"/>
            <a:ext cx="5499720" cy="4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15803D"/>
                </a:solidFill>
                <a:effectLst/>
                <a:uFillTx/>
                <a:latin typeface="Inter"/>
                <a:ea typeface="Inter"/>
              </a:rPr>
              <a:t>R Workspace Datasets &amp; Scripts:</a:t>
            </a:r>
            <a:r>
              <a:rPr lang="en-US" sz="1280" b="0" u="none" strike="noStrike">
                <a:solidFill>
                  <a:srgbClr val="15803D"/>
                </a:solidFill>
                <a:effectLst/>
                <a:uFillTx/>
                <a:latin typeface="Inter"/>
                <a:ea typeface="Inter"/>
              </a:rPr>
              <a:t> Check the local scripts/ directory to run exercises.</a:t>
            </a:r>
            <a:endParaRPr lang="en-GB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lideIndicator924"/>
          <p:cNvSpPr/>
          <p:nvPr/>
        </p:nvSpPr>
        <p:spPr>
          <a:xfrm>
            <a:off x="10306080" y="6229440"/>
            <a:ext cx="1694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32 / 32</a:t>
            </a: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SlideIndicatorTop925"/>
          <p:cNvSpPr/>
          <p:nvPr/>
        </p:nvSpPr>
        <p:spPr>
          <a:xfrm>
            <a:off x="10601280" y="428760"/>
            <a:ext cx="1018080" cy="23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Inter"/>
                <a:ea typeface="Inter"/>
              </a:rPr>
              <a:t>Slide 32 / 32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4899</Words>
  <Application>Microsoft Macintosh PowerPoint</Application>
  <PresentationFormat>Widescreen</PresentationFormat>
  <Paragraphs>582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Wingdings</vt:lpstr>
      <vt:lpstr>Calibri</vt:lpstr>
      <vt:lpstr>Fira Code</vt:lpstr>
      <vt:lpstr>Times New Roman</vt:lpstr>
      <vt:lpstr>Inter</vt:lpstr>
      <vt:lpstr>Poppins</vt:lpstr>
      <vt:lpstr>Inter SemiBold</vt:lpstr>
      <vt:lpstr>Symbol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George Michaelides (NBS - Staff)</cp:lastModifiedBy>
  <cp:revision>9</cp:revision>
  <dcterms:modified xsi:type="dcterms:W3CDTF">2026-06-17T08:59:44Z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29</vt:i4>
  </property>
  <property fmtid="{D5CDD505-2E9C-101B-9397-08002B2CF9AE}" pid="3" name="PresentationFormat">
    <vt:lpwstr>Widescreen</vt:lpwstr>
  </property>
  <property fmtid="{D5CDD505-2E9C-101B-9397-08002B2CF9AE}" pid="4" name="Slides">
    <vt:i4>32</vt:i4>
  </property>
</Properties>
</file>